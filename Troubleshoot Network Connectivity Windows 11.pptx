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22"/>
  </p:notesMasterIdLst>
  <p:handoutMasterIdLst>
    <p:handoutMasterId r:id="rId23"/>
  </p:handoutMasterIdLst>
  <p:sldIdLst>
    <p:sldId id="269" r:id="rId2"/>
    <p:sldId id="263" r:id="rId3"/>
    <p:sldId id="288" r:id="rId4"/>
    <p:sldId id="305" r:id="rId5"/>
    <p:sldId id="302" r:id="rId6"/>
    <p:sldId id="296" r:id="rId7"/>
    <p:sldId id="297" r:id="rId8"/>
    <p:sldId id="299" r:id="rId9"/>
    <p:sldId id="309" r:id="rId10"/>
    <p:sldId id="298" r:id="rId11"/>
    <p:sldId id="303" r:id="rId12"/>
    <p:sldId id="304" r:id="rId13"/>
    <p:sldId id="300" r:id="rId14"/>
    <p:sldId id="308" r:id="rId15"/>
    <p:sldId id="310" r:id="rId16"/>
    <p:sldId id="311" r:id="rId17"/>
    <p:sldId id="312" r:id="rId18"/>
    <p:sldId id="313" r:id="rId19"/>
    <p:sldId id="314" r:id="rId20"/>
    <p:sldId id="315" r:id="rId21"/>
  </p:sldIdLst>
  <p:sldSz cx="9144000" cy="6858000" type="screen4x3"/>
  <p:notesSz cx="7023100"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15:clr>
            <a:srgbClr val="A4A3A4"/>
          </p15:clr>
        </p15:guide>
        <p15:guide id="2" pos="5472">
          <p15:clr>
            <a:srgbClr val="A4A3A4"/>
          </p15:clr>
        </p15:guide>
      </p15:sldGuideLst>
    </p:ext>
    <p:ext uri="{2D200454-40CA-4A62-9FC3-DE9A4176ACB9}">
      <p15:notesGuideLst xmlns:p15="http://schemas.microsoft.com/office/powerpoint/2012/main">
        <p15:guide id="1" orient="horz" pos="2932">
          <p15:clr>
            <a:srgbClr val="A4A3A4"/>
          </p15:clr>
        </p15:guide>
        <p15:guide id="2" pos="2212">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5" name="Author" initials="A" lastIdx="2"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C89EF96-8CEA-46FF-86C4-4CE0E760980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inimized">
    <p:restoredLeft sz="3187" autoAdjust="0"/>
    <p:restoredTop sz="85752" autoAdjust="0"/>
  </p:normalViewPr>
  <p:slideViewPr>
    <p:cSldViewPr>
      <p:cViewPr varScale="1">
        <p:scale>
          <a:sx n="70" d="100"/>
          <a:sy n="70" d="100"/>
        </p:scale>
        <p:origin x="2275" y="62"/>
      </p:cViewPr>
      <p:guideLst>
        <p:guide orient="horz"/>
        <p:guide pos="5472"/>
      </p:guideLst>
    </p:cSldViewPr>
  </p:slideViewPr>
  <p:notesTextViewPr>
    <p:cViewPr>
      <p:scale>
        <a:sx n="1" d="1"/>
        <a:sy n="1" d="1"/>
      </p:scale>
      <p:origin x="0" y="0"/>
    </p:cViewPr>
  </p:notesTextViewPr>
  <p:sorterViewPr>
    <p:cViewPr>
      <p:scale>
        <a:sx n="100" d="100"/>
        <a:sy n="100" d="100"/>
      </p:scale>
      <p:origin x="0" y="0"/>
    </p:cViewPr>
  </p:sorterViewPr>
  <p:notesViewPr>
    <p:cSldViewPr>
      <p:cViewPr varScale="1">
        <p:scale>
          <a:sx n="86" d="100"/>
          <a:sy n="86" d="100"/>
        </p:scale>
        <p:origin x="3822" y="96"/>
      </p:cViewPr>
      <p:guideLst>
        <p:guide orient="horz" pos="2932"/>
        <p:guide pos="2212"/>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5455"/>
          </a:xfrm>
          <a:prstGeom prst="rect">
            <a:avLst/>
          </a:prstGeom>
        </p:spPr>
        <p:txBody>
          <a:bodyPr vert="horz" lIns="93324" tIns="46662" rIns="93324" bIns="46662" rtlCol="0"/>
          <a:lstStyle>
            <a:lvl1pPr algn="l">
              <a:defRPr sz="1200"/>
            </a:lvl1pPr>
          </a:lstStyle>
          <a:p>
            <a:endParaRPr lang="en-US" dirty="0"/>
          </a:p>
        </p:txBody>
      </p:sp>
      <p:sp>
        <p:nvSpPr>
          <p:cNvPr id="3" name="Date Placeholder 2"/>
          <p:cNvSpPr>
            <a:spLocks noGrp="1"/>
          </p:cNvSpPr>
          <p:nvPr>
            <p:ph type="dt" sz="quarter" idx="1"/>
          </p:nvPr>
        </p:nvSpPr>
        <p:spPr>
          <a:xfrm>
            <a:off x="3978132" y="0"/>
            <a:ext cx="3043343" cy="465455"/>
          </a:xfrm>
          <a:prstGeom prst="rect">
            <a:avLst/>
          </a:prstGeom>
        </p:spPr>
        <p:txBody>
          <a:bodyPr vert="horz" lIns="93324" tIns="46662" rIns="93324" bIns="46662" rtlCol="0"/>
          <a:lstStyle>
            <a:lvl1pPr algn="r">
              <a:defRPr sz="1200"/>
            </a:lvl1pPr>
          </a:lstStyle>
          <a:p>
            <a:fld id="{865CA2D4-094E-48F7-9E06-42143F59D099}" type="datetimeFigureOut">
              <a:rPr lang="en-US" smtClean="0"/>
              <a:t>11/11/2023</a:t>
            </a:fld>
            <a:endParaRPr lang="en-US" dirty="0"/>
          </a:p>
        </p:txBody>
      </p:sp>
      <p:sp>
        <p:nvSpPr>
          <p:cNvPr id="4" name="Footer Placeholder 3"/>
          <p:cNvSpPr>
            <a:spLocks noGrp="1"/>
          </p:cNvSpPr>
          <p:nvPr>
            <p:ph type="ftr" sz="quarter" idx="2"/>
          </p:nvPr>
        </p:nvSpPr>
        <p:spPr>
          <a:xfrm>
            <a:off x="0" y="8842029"/>
            <a:ext cx="3043343" cy="465455"/>
          </a:xfrm>
          <a:prstGeom prst="rect">
            <a:avLst/>
          </a:prstGeom>
        </p:spPr>
        <p:txBody>
          <a:bodyPr vert="horz" lIns="93324" tIns="46662" rIns="93324" bIns="46662"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78132" y="8842029"/>
            <a:ext cx="3043343" cy="465455"/>
          </a:xfrm>
          <a:prstGeom prst="rect">
            <a:avLst/>
          </a:prstGeom>
        </p:spPr>
        <p:txBody>
          <a:bodyPr vert="horz" lIns="93324" tIns="46662" rIns="93324" bIns="46662" rtlCol="0" anchor="b"/>
          <a:lstStyle>
            <a:lvl1pPr algn="r">
              <a:defRPr sz="1200"/>
            </a:lvl1pPr>
          </a:lstStyle>
          <a:p>
            <a:fld id="{51E7E98C-E50F-40A2-A561-002C91555AD1}" type="slidenum">
              <a:rPr lang="en-US" smtClean="0"/>
              <a:t>‹#›</a:t>
            </a:fld>
            <a:endParaRPr lang="en-US" dirty="0"/>
          </a:p>
        </p:txBody>
      </p:sp>
    </p:spTree>
    <p:extLst>
      <p:ext uri="{BB962C8B-B14F-4D97-AF65-F5344CB8AC3E}">
        <p14:creationId xmlns:p14="http://schemas.microsoft.com/office/powerpoint/2010/main" val="31473369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5455"/>
          </a:xfrm>
          <a:prstGeom prst="rect">
            <a:avLst/>
          </a:prstGeom>
        </p:spPr>
        <p:txBody>
          <a:bodyPr vert="horz" lIns="93324" tIns="46662" rIns="93324" bIns="46662" rtlCol="0"/>
          <a:lstStyle>
            <a:lvl1pPr algn="l">
              <a:defRPr sz="1200"/>
            </a:lvl1pPr>
          </a:lstStyle>
          <a:p>
            <a:endParaRPr lang="en-US" dirty="0"/>
          </a:p>
        </p:txBody>
      </p:sp>
      <p:sp>
        <p:nvSpPr>
          <p:cNvPr id="3" name="Date Placeholder 2"/>
          <p:cNvSpPr>
            <a:spLocks noGrp="1"/>
          </p:cNvSpPr>
          <p:nvPr>
            <p:ph type="dt" idx="1"/>
          </p:nvPr>
        </p:nvSpPr>
        <p:spPr>
          <a:xfrm>
            <a:off x="3978132" y="0"/>
            <a:ext cx="3043343" cy="465455"/>
          </a:xfrm>
          <a:prstGeom prst="rect">
            <a:avLst/>
          </a:prstGeom>
        </p:spPr>
        <p:txBody>
          <a:bodyPr vert="horz" lIns="93324" tIns="46662" rIns="93324" bIns="46662" rtlCol="0"/>
          <a:lstStyle>
            <a:lvl1pPr algn="r">
              <a:defRPr sz="1200"/>
            </a:lvl1pPr>
          </a:lstStyle>
          <a:p>
            <a:fld id="{E467C250-A218-43FB-AD95-3331D2A81DF1}" type="datetimeFigureOut">
              <a:rPr lang="en-US" smtClean="0"/>
              <a:t>11/11/2023</a:t>
            </a:fld>
            <a:endParaRPr lang="en-US" dirty="0"/>
          </a:p>
        </p:txBody>
      </p:sp>
      <p:sp>
        <p:nvSpPr>
          <p:cNvPr id="4" name="Slide Image Placeholder 3"/>
          <p:cNvSpPr>
            <a:spLocks noGrp="1" noRot="1" noChangeAspect="1"/>
          </p:cNvSpPr>
          <p:nvPr>
            <p:ph type="sldImg" idx="2"/>
          </p:nvPr>
        </p:nvSpPr>
        <p:spPr>
          <a:xfrm>
            <a:off x="1184275" y="698500"/>
            <a:ext cx="4654550" cy="3490913"/>
          </a:xfrm>
          <a:prstGeom prst="rect">
            <a:avLst/>
          </a:prstGeom>
          <a:noFill/>
          <a:ln w="12700">
            <a:solidFill>
              <a:prstClr val="black"/>
            </a:solidFill>
          </a:ln>
        </p:spPr>
        <p:txBody>
          <a:bodyPr vert="horz" lIns="93324" tIns="46662" rIns="93324" bIns="46662" rtlCol="0" anchor="ctr"/>
          <a:lstStyle/>
          <a:p>
            <a:endParaRPr lang="en-US" dirty="0"/>
          </a:p>
        </p:txBody>
      </p:sp>
      <p:sp>
        <p:nvSpPr>
          <p:cNvPr id="5" name="Notes Placeholder 4"/>
          <p:cNvSpPr>
            <a:spLocks noGrp="1"/>
          </p:cNvSpPr>
          <p:nvPr>
            <p:ph type="body" sz="quarter" idx="3"/>
          </p:nvPr>
        </p:nvSpPr>
        <p:spPr>
          <a:xfrm>
            <a:off x="702310" y="4421823"/>
            <a:ext cx="5618480" cy="4189095"/>
          </a:xfrm>
          <a:prstGeom prst="rect">
            <a:avLst/>
          </a:prstGeom>
        </p:spPr>
        <p:txBody>
          <a:bodyPr vert="horz" lIns="93324" tIns="46662" rIns="93324" bIns="46662"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2029"/>
            <a:ext cx="3043343" cy="465455"/>
          </a:xfrm>
          <a:prstGeom prst="rect">
            <a:avLst/>
          </a:prstGeom>
        </p:spPr>
        <p:txBody>
          <a:bodyPr vert="horz" lIns="93324" tIns="46662" rIns="93324" bIns="46662"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8132" y="8842029"/>
            <a:ext cx="3043343" cy="465455"/>
          </a:xfrm>
          <a:prstGeom prst="rect">
            <a:avLst/>
          </a:prstGeom>
        </p:spPr>
        <p:txBody>
          <a:bodyPr vert="horz" lIns="93324" tIns="46662" rIns="93324" bIns="46662" rtlCol="0" anchor="b"/>
          <a:lstStyle>
            <a:lvl1pPr algn="r">
              <a:defRPr sz="1200"/>
            </a:lvl1pPr>
          </a:lstStyle>
          <a:p>
            <a:fld id="{E2FF7759-803D-4F76-9AEC-98B2D9A07B0D}" type="slidenum">
              <a:rPr lang="en-US" smtClean="0"/>
              <a:t>‹#›</a:t>
            </a:fld>
            <a:endParaRPr lang="en-US" dirty="0"/>
          </a:p>
        </p:txBody>
      </p:sp>
    </p:spTree>
    <p:extLst>
      <p:ext uri="{BB962C8B-B14F-4D97-AF65-F5344CB8AC3E}">
        <p14:creationId xmlns:p14="http://schemas.microsoft.com/office/powerpoint/2010/main" val="39465725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2FF7759-803D-4F76-9AEC-98B2D9A07B0D}" type="slidenum">
              <a:rPr lang="en-US" smtClean="0"/>
              <a:t>1</a:t>
            </a:fld>
            <a:endParaRPr lang="en-US" dirty="0"/>
          </a:p>
        </p:txBody>
      </p:sp>
      <p:sp>
        <p:nvSpPr>
          <p:cNvPr id="5" name="Rectangle 3"/>
          <p:cNvSpPr>
            <a:spLocks noGrp="1" noChangeArrowheads="1"/>
          </p:cNvSpPr>
          <p:nvPr>
            <p:ph type="dt" sz="quarter" idx="1"/>
          </p:nvPr>
        </p:nvSpPr>
        <p:spPr>
          <a:xfrm>
            <a:off x="271190" y="190054"/>
            <a:ext cx="2002155" cy="494128"/>
          </a:xfrm>
        </p:spPr>
        <p:txBody>
          <a:bodyPr/>
          <a:lstStyle/>
          <a:p>
            <a:pPr algn="l">
              <a:defRPr/>
            </a:pPr>
            <a:r>
              <a:rPr lang="en-US" b="1" dirty="0">
                <a:latin typeface="Arial" pitchFamily="34" charset="0"/>
                <a:cs typeface="Arial" pitchFamily="34" charset="0"/>
              </a:rPr>
              <a:t>Course 10982B</a:t>
            </a:r>
          </a:p>
          <a:p>
            <a:pPr algn="l">
              <a:defRPr/>
            </a:pPr>
            <a:r>
              <a:rPr lang="en-US" b="1" dirty="0">
                <a:solidFill>
                  <a:srgbClr val="336699"/>
                </a:solidFill>
                <a:latin typeface="Arial" pitchFamily="34" charset="0"/>
                <a:cs typeface="Arial" pitchFamily="34" charset="0"/>
              </a:rPr>
              <a:t>Module</a:t>
            </a:r>
            <a:r>
              <a:rPr lang="en-US" b="1" dirty="0">
                <a:latin typeface="Arial" pitchFamily="34" charset="0"/>
                <a:cs typeface="Arial" pitchFamily="34" charset="0"/>
              </a:rPr>
              <a:t> </a:t>
            </a:r>
            <a:r>
              <a:rPr lang="en-US" b="1" dirty="0">
                <a:solidFill>
                  <a:srgbClr val="336699"/>
                </a:solidFill>
                <a:latin typeface="Arial" pitchFamily="34" charset="0"/>
                <a:cs typeface="Arial" pitchFamily="34" charset="0"/>
              </a:rPr>
              <a:t>0: Introduction</a:t>
            </a:r>
          </a:p>
          <a:p>
            <a:pPr>
              <a:defRPr/>
            </a:pPr>
            <a:endParaRPr lang="en-US" dirty="0"/>
          </a:p>
          <a:p>
            <a:pPr>
              <a:defRPr/>
            </a:pPr>
            <a:endParaRPr lang="en-US" dirty="0"/>
          </a:p>
        </p:txBody>
      </p:sp>
    </p:spTree>
    <p:extLst>
      <p:ext uri="{BB962C8B-B14F-4D97-AF65-F5344CB8AC3E}">
        <p14:creationId xmlns:p14="http://schemas.microsoft.com/office/powerpoint/2010/main" val="21601335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2FF7759-803D-4F76-9AEC-98B2D9A07B0D}" type="slidenum">
              <a:rPr lang="en-US" smtClean="0"/>
              <a:t>2</a:t>
            </a:fld>
            <a:endParaRPr lang="en-US" dirty="0"/>
          </a:p>
        </p:txBody>
      </p:sp>
      <p:sp>
        <p:nvSpPr>
          <p:cNvPr id="5" name="Rectangle 3"/>
          <p:cNvSpPr>
            <a:spLocks noGrp="1" noChangeArrowheads="1"/>
          </p:cNvSpPr>
          <p:nvPr>
            <p:ph type="dt" sz="quarter" idx="1"/>
          </p:nvPr>
        </p:nvSpPr>
        <p:spPr>
          <a:xfrm>
            <a:off x="271190" y="190054"/>
            <a:ext cx="2002155" cy="494128"/>
          </a:xfrm>
        </p:spPr>
        <p:txBody>
          <a:bodyPr/>
          <a:lstStyle/>
          <a:p>
            <a:pPr algn="l">
              <a:defRPr/>
            </a:pPr>
            <a:r>
              <a:rPr lang="en-US" b="1" dirty="0">
                <a:latin typeface="Arial" pitchFamily="34" charset="0"/>
                <a:cs typeface="Arial" pitchFamily="34" charset="0"/>
              </a:rPr>
              <a:t>Course 10982B</a:t>
            </a:r>
          </a:p>
          <a:p>
            <a:pPr algn="l">
              <a:defRPr/>
            </a:pPr>
            <a:r>
              <a:rPr lang="en-US" b="1" dirty="0">
                <a:solidFill>
                  <a:srgbClr val="336699"/>
                </a:solidFill>
                <a:latin typeface="Arial" pitchFamily="34" charset="0"/>
                <a:cs typeface="Arial" pitchFamily="34" charset="0"/>
              </a:rPr>
              <a:t>Module</a:t>
            </a:r>
            <a:r>
              <a:rPr lang="en-US" b="1" dirty="0">
                <a:latin typeface="Arial" pitchFamily="34" charset="0"/>
                <a:cs typeface="Arial" pitchFamily="34" charset="0"/>
              </a:rPr>
              <a:t> </a:t>
            </a:r>
            <a:r>
              <a:rPr lang="en-US" b="1" dirty="0">
                <a:solidFill>
                  <a:srgbClr val="336699"/>
                </a:solidFill>
                <a:latin typeface="Arial" pitchFamily="34" charset="0"/>
                <a:cs typeface="Arial" pitchFamily="34" charset="0"/>
              </a:rPr>
              <a:t>0: Introduction</a:t>
            </a:r>
          </a:p>
          <a:p>
            <a:pPr>
              <a:defRPr/>
            </a:pPr>
            <a:endParaRPr lang="en-US" dirty="0"/>
          </a:p>
          <a:p>
            <a:pPr>
              <a:defRPr/>
            </a:pPr>
            <a:endParaRPr lang="en-US" dirty="0"/>
          </a:p>
        </p:txBody>
      </p:sp>
    </p:spTree>
    <p:extLst>
      <p:ext uri="{BB962C8B-B14F-4D97-AF65-F5344CB8AC3E}">
        <p14:creationId xmlns:p14="http://schemas.microsoft.com/office/powerpoint/2010/main" val="30868006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Remote administration is a critical aspect of IT management, allowing administrators to efficiently oversee and maintain Windows 11 systems without physical access to each machine. These administration tools empower users to manage and troubleshoot Windows 11 systems efficiently. Whether through graphical interfaces like Windows Admin Center or command-line tools like PowerShell, these tools offer flexibility and control over system administration tasks.</a:t>
            </a:r>
          </a:p>
          <a:p>
            <a:endParaRPr lang="en-US" dirty="0"/>
          </a:p>
        </p:txBody>
      </p:sp>
      <p:sp>
        <p:nvSpPr>
          <p:cNvPr id="4" name="Slide Number Placeholder 3"/>
          <p:cNvSpPr>
            <a:spLocks noGrp="1"/>
          </p:cNvSpPr>
          <p:nvPr>
            <p:ph type="sldNum" sz="quarter" idx="10"/>
          </p:nvPr>
        </p:nvSpPr>
        <p:spPr/>
        <p:txBody>
          <a:bodyPr/>
          <a:lstStyle/>
          <a:p>
            <a:fld id="{E2FF7759-803D-4F76-9AEC-98B2D9A07B0D}" type="slidenum">
              <a:rPr lang="en-US" smtClean="0"/>
              <a:t>3</a:t>
            </a:fld>
            <a:endParaRPr lang="en-US" dirty="0"/>
          </a:p>
        </p:txBody>
      </p:sp>
      <p:sp>
        <p:nvSpPr>
          <p:cNvPr id="5" name="Rectangle 3"/>
          <p:cNvSpPr>
            <a:spLocks noGrp="1" noChangeArrowheads="1"/>
          </p:cNvSpPr>
          <p:nvPr>
            <p:ph type="dt" sz="quarter" idx="1"/>
          </p:nvPr>
        </p:nvSpPr>
        <p:spPr>
          <a:xfrm>
            <a:off x="271190" y="190054"/>
            <a:ext cx="2002155" cy="494128"/>
          </a:xfrm>
        </p:spPr>
        <p:txBody>
          <a:bodyPr/>
          <a:lstStyle/>
          <a:p>
            <a:pPr algn="l">
              <a:defRPr/>
            </a:pPr>
            <a:r>
              <a:rPr lang="en-US" b="1" dirty="0">
                <a:latin typeface="Arial" pitchFamily="34" charset="0"/>
                <a:cs typeface="Arial" pitchFamily="34" charset="0"/>
              </a:rPr>
              <a:t>Course 10982B</a:t>
            </a:r>
          </a:p>
          <a:p>
            <a:pPr algn="l">
              <a:defRPr/>
            </a:pPr>
            <a:r>
              <a:rPr lang="en-US" b="1" dirty="0">
                <a:solidFill>
                  <a:srgbClr val="336699"/>
                </a:solidFill>
                <a:latin typeface="Arial" pitchFamily="34" charset="0"/>
                <a:cs typeface="Arial" pitchFamily="34" charset="0"/>
              </a:rPr>
              <a:t>Module</a:t>
            </a:r>
            <a:r>
              <a:rPr lang="en-US" b="1" dirty="0">
                <a:latin typeface="Arial" pitchFamily="34" charset="0"/>
                <a:cs typeface="Arial" pitchFamily="34" charset="0"/>
              </a:rPr>
              <a:t> </a:t>
            </a:r>
            <a:r>
              <a:rPr lang="en-US" b="1" dirty="0">
                <a:solidFill>
                  <a:srgbClr val="336699"/>
                </a:solidFill>
                <a:latin typeface="Arial" pitchFamily="34" charset="0"/>
                <a:cs typeface="Arial" pitchFamily="34" charset="0"/>
              </a:rPr>
              <a:t>0: Introduction</a:t>
            </a:r>
          </a:p>
          <a:p>
            <a:pPr>
              <a:defRPr/>
            </a:pPr>
            <a:endParaRPr lang="en-US" dirty="0"/>
          </a:p>
          <a:p>
            <a:pPr>
              <a:defRPr/>
            </a:pPr>
            <a:endParaRPr lang="en-US" dirty="0"/>
          </a:p>
        </p:txBody>
      </p:sp>
    </p:spTree>
    <p:extLst>
      <p:ext uri="{BB962C8B-B14F-4D97-AF65-F5344CB8AC3E}">
        <p14:creationId xmlns:p14="http://schemas.microsoft.com/office/powerpoint/2010/main" val="13277093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2FF7759-803D-4F76-9AEC-98B2D9A07B0D}" type="slidenum">
              <a:rPr lang="en-US" smtClean="0"/>
              <a:t>5</a:t>
            </a:fld>
            <a:endParaRPr lang="en-US" dirty="0"/>
          </a:p>
        </p:txBody>
      </p:sp>
      <p:sp>
        <p:nvSpPr>
          <p:cNvPr id="5" name="Rectangle 3"/>
          <p:cNvSpPr>
            <a:spLocks noGrp="1" noChangeArrowheads="1"/>
          </p:cNvSpPr>
          <p:nvPr>
            <p:ph type="dt" sz="quarter" idx="1"/>
          </p:nvPr>
        </p:nvSpPr>
        <p:spPr>
          <a:xfrm>
            <a:off x="271190" y="190054"/>
            <a:ext cx="2002155" cy="494128"/>
          </a:xfrm>
        </p:spPr>
        <p:txBody>
          <a:bodyPr/>
          <a:lstStyle/>
          <a:p>
            <a:pPr algn="l">
              <a:defRPr/>
            </a:pPr>
            <a:r>
              <a:rPr lang="en-US" b="1" dirty="0">
                <a:latin typeface="Arial" pitchFamily="34" charset="0"/>
                <a:cs typeface="Arial" pitchFamily="34" charset="0"/>
              </a:rPr>
              <a:t>Course 10982B</a:t>
            </a:r>
          </a:p>
          <a:p>
            <a:pPr algn="l">
              <a:defRPr/>
            </a:pPr>
            <a:r>
              <a:rPr lang="en-US" b="1" dirty="0">
                <a:solidFill>
                  <a:srgbClr val="336699"/>
                </a:solidFill>
                <a:latin typeface="Arial" pitchFamily="34" charset="0"/>
                <a:cs typeface="Arial" pitchFamily="34" charset="0"/>
              </a:rPr>
              <a:t>Module</a:t>
            </a:r>
            <a:r>
              <a:rPr lang="en-US" b="1" dirty="0">
                <a:latin typeface="Arial" pitchFamily="34" charset="0"/>
                <a:cs typeface="Arial" pitchFamily="34" charset="0"/>
              </a:rPr>
              <a:t> </a:t>
            </a:r>
            <a:r>
              <a:rPr lang="en-US" b="1" dirty="0">
                <a:solidFill>
                  <a:srgbClr val="336699"/>
                </a:solidFill>
                <a:latin typeface="Arial" pitchFamily="34" charset="0"/>
                <a:cs typeface="Arial" pitchFamily="34" charset="0"/>
              </a:rPr>
              <a:t>0: Introduction</a:t>
            </a:r>
          </a:p>
          <a:p>
            <a:pPr>
              <a:defRPr/>
            </a:pPr>
            <a:endParaRPr lang="en-US" dirty="0"/>
          </a:p>
          <a:p>
            <a:pPr>
              <a:defRPr/>
            </a:pPr>
            <a:endParaRPr lang="en-US" dirty="0"/>
          </a:p>
        </p:txBody>
      </p:sp>
    </p:spTree>
    <p:extLst>
      <p:ext uri="{BB962C8B-B14F-4D97-AF65-F5344CB8AC3E}">
        <p14:creationId xmlns:p14="http://schemas.microsoft.com/office/powerpoint/2010/main" val="24648572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2FF7759-803D-4F76-9AEC-98B2D9A07B0D}" type="slidenum">
              <a:rPr lang="en-US" smtClean="0"/>
              <a:t>6</a:t>
            </a:fld>
            <a:endParaRPr lang="en-US" dirty="0"/>
          </a:p>
        </p:txBody>
      </p:sp>
      <p:sp>
        <p:nvSpPr>
          <p:cNvPr id="5" name="Rectangle 3"/>
          <p:cNvSpPr>
            <a:spLocks noGrp="1" noChangeArrowheads="1"/>
          </p:cNvSpPr>
          <p:nvPr>
            <p:ph type="dt" sz="quarter" idx="1"/>
          </p:nvPr>
        </p:nvSpPr>
        <p:spPr>
          <a:xfrm>
            <a:off x="271190" y="190054"/>
            <a:ext cx="2002155" cy="494128"/>
          </a:xfrm>
        </p:spPr>
        <p:txBody>
          <a:bodyPr/>
          <a:lstStyle/>
          <a:p>
            <a:pPr algn="l">
              <a:defRPr/>
            </a:pPr>
            <a:r>
              <a:rPr lang="en-US" b="1" dirty="0">
                <a:latin typeface="Arial" pitchFamily="34" charset="0"/>
                <a:cs typeface="Arial" pitchFamily="34" charset="0"/>
              </a:rPr>
              <a:t>Course 10982B</a:t>
            </a:r>
          </a:p>
          <a:p>
            <a:pPr algn="l">
              <a:defRPr/>
            </a:pPr>
            <a:r>
              <a:rPr lang="en-US" b="1" dirty="0">
                <a:solidFill>
                  <a:srgbClr val="336699"/>
                </a:solidFill>
                <a:latin typeface="Arial" pitchFamily="34" charset="0"/>
                <a:cs typeface="Arial" pitchFamily="34" charset="0"/>
              </a:rPr>
              <a:t>Module</a:t>
            </a:r>
            <a:r>
              <a:rPr lang="en-US" b="1" dirty="0">
                <a:latin typeface="Arial" pitchFamily="34" charset="0"/>
                <a:cs typeface="Arial" pitchFamily="34" charset="0"/>
              </a:rPr>
              <a:t> </a:t>
            </a:r>
            <a:r>
              <a:rPr lang="en-US" b="1" dirty="0">
                <a:solidFill>
                  <a:srgbClr val="336699"/>
                </a:solidFill>
                <a:latin typeface="Arial" pitchFamily="34" charset="0"/>
                <a:cs typeface="Arial" pitchFamily="34" charset="0"/>
              </a:rPr>
              <a:t>0: Introduction</a:t>
            </a:r>
          </a:p>
          <a:p>
            <a:pPr>
              <a:defRPr/>
            </a:pPr>
            <a:endParaRPr lang="en-US" dirty="0"/>
          </a:p>
          <a:p>
            <a:pPr>
              <a:defRPr/>
            </a:pPr>
            <a:endParaRPr lang="en-US" dirty="0"/>
          </a:p>
        </p:txBody>
      </p:sp>
    </p:spTree>
    <p:extLst>
      <p:ext uri="{BB962C8B-B14F-4D97-AF65-F5344CB8AC3E}">
        <p14:creationId xmlns:p14="http://schemas.microsoft.com/office/powerpoint/2010/main" val="14183213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US" dirty="0"/>
          </a:p>
        </p:txBody>
      </p:sp>
      <p:sp>
        <p:nvSpPr>
          <p:cNvPr id="4" name="Slide Number Placeholder 3"/>
          <p:cNvSpPr>
            <a:spLocks noGrp="1"/>
          </p:cNvSpPr>
          <p:nvPr>
            <p:ph type="sldNum" sz="quarter" idx="10"/>
          </p:nvPr>
        </p:nvSpPr>
        <p:spPr/>
        <p:txBody>
          <a:bodyPr/>
          <a:lstStyle/>
          <a:p>
            <a:fld id="{E2FF7759-803D-4F76-9AEC-98B2D9A07B0D}" type="slidenum">
              <a:rPr lang="en-US" smtClean="0"/>
              <a:t>7</a:t>
            </a:fld>
            <a:endParaRPr lang="en-US" dirty="0"/>
          </a:p>
        </p:txBody>
      </p:sp>
      <p:sp>
        <p:nvSpPr>
          <p:cNvPr id="5" name="Rectangle 3"/>
          <p:cNvSpPr>
            <a:spLocks noGrp="1" noChangeArrowheads="1"/>
          </p:cNvSpPr>
          <p:nvPr>
            <p:ph type="dt" sz="quarter" idx="1"/>
          </p:nvPr>
        </p:nvSpPr>
        <p:spPr>
          <a:xfrm>
            <a:off x="271190" y="190054"/>
            <a:ext cx="2002155" cy="494128"/>
          </a:xfrm>
        </p:spPr>
        <p:txBody>
          <a:bodyPr/>
          <a:lstStyle/>
          <a:p>
            <a:pPr algn="l">
              <a:defRPr/>
            </a:pPr>
            <a:r>
              <a:rPr lang="en-US" b="1" dirty="0">
                <a:latin typeface="Arial" pitchFamily="34" charset="0"/>
                <a:cs typeface="Arial" pitchFamily="34" charset="0"/>
              </a:rPr>
              <a:t>Course 10982B</a:t>
            </a:r>
          </a:p>
          <a:p>
            <a:pPr algn="l">
              <a:defRPr/>
            </a:pPr>
            <a:r>
              <a:rPr lang="en-US" b="1" dirty="0">
                <a:solidFill>
                  <a:srgbClr val="336699"/>
                </a:solidFill>
                <a:latin typeface="Arial" pitchFamily="34" charset="0"/>
                <a:cs typeface="Arial" pitchFamily="34" charset="0"/>
              </a:rPr>
              <a:t>Module</a:t>
            </a:r>
            <a:r>
              <a:rPr lang="en-US" b="1" dirty="0">
                <a:latin typeface="Arial" pitchFamily="34" charset="0"/>
                <a:cs typeface="Arial" pitchFamily="34" charset="0"/>
              </a:rPr>
              <a:t> </a:t>
            </a:r>
            <a:r>
              <a:rPr lang="en-US" b="1" dirty="0">
                <a:solidFill>
                  <a:srgbClr val="336699"/>
                </a:solidFill>
                <a:latin typeface="Arial" pitchFamily="34" charset="0"/>
                <a:cs typeface="Arial" pitchFamily="34" charset="0"/>
              </a:rPr>
              <a:t>0: Introduction</a:t>
            </a:r>
          </a:p>
          <a:p>
            <a:pPr>
              <a:defRPr/>
            </a:pPr>
            <a:endParaRPr lang="en-US" dirty="0"/>
          </a:p>
          <a:p>
            <a:pPr>
              <a:defRPr/>
            </a:pPr>
            <a:endParaRPr lang="en-US" dirty="0"/>
          </a:p>
        </p:txBody>
      </p:sp>
    </p:spTree>
    <p:extLst>
      <p:ext uri="{BB962C8B-B14F-4D97-AF65-F5344CB8AC3E}">
        <p14:creationId xmlns:p14="http://schemas.microsoft.com/office/powerpoint/2010/main" val="11232637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2FF7759-803D-4F76-9AEC-98B2D9A07B0D}" type="slidenum">
              <a:rPr lang="en-US" smtClean="0"/>
              <a:t>8</a:t>
            </a:fld>
            <a:endParaRPr lang="en-US" dirty="0"/>
          </a:p>
        </p:txBody>
      </p:sp>
      <p:sp>
        <p:nvSpPr>
          <p:cNvPr id="5" name="Rectangle 3"/>
          <p:cNvSpPr>
            <a:spLocks noGrp="1" noChangeArrowheads="1"/>
          </p:cNvSpPr>
          <p:nvPr>
            <p:ph type="dt" sz="quarter" idx="1"/>
          </p:nvPr>
        </p:nvSpPr>
        <p:spPr>
          <a:xfrm>
            <a:off x="271190" y="190054"/>
            <a:ext cx="2002155" cy="494128"/>
          </a:xfrm>
        </p:spPr>
        <p:txBody>
          <a:bodyPr/>
          <a:lstStyle/>
          <a:p>
            <a:pPr algn="l">
              <a:defRPr/>
            </a:pPr>
            <a:r>
              <a:rPr lang="en-US" b="1" dirty="0">
                <a:latin typeface="Arial" pitchFamily="34" charset="0"/>
                <a:cs typeface="Arial" pitchFamily="34" charset="0"/>
              </a:rPr>
              <a:t>Course 10982B</a:t>
            </a:r>
          </a:p>
          <a:p>
            <a:pPr algn="l">
              <a:defRPr/>
            </a:pPr>
            <a:r>
              <a:rPr lang="en-US" b="1" dirty="0">
                <a:solidFill>
                  <a:srgbClr val="336699"/>
                </a:solidFill>
                <a:latin typeface="Arial" pitchFamily="34" charset="0"/>
                <a:cs typeface="Arial" pitchFamily="34" charset="0"/>
              </a:rPr>
              <a:t>Module</a:t>
            </a:r>
            <a:r>
              <a:rPr lang="en-US" b="1" dirty="0">
                <a:latin typeface="Arial" pitchFamily="34" charset="0"/>
                <a:cs typeface="Arial" pitchFamily="34" charset="0"/>
              </a:rPr>
              <a:t> </a:t>
            </a:r>
            <a:r>
              <a:rPr lang="en-US" b="1" dirty="0">
                <a:solidFill>
                  <a:srgbClr val="336699"/>
                </a:solidFill>
                <a:latin typeface="Arial" pitchFamily="34" charset="0"/>
                <a:cs typeface="Arial" pitchFamily="34" charset="0"/>
              </a:rPr>
              <a:t>0: Introduction</a:t>
            </a:r>
          </a:p>
          <a:p>
            <a:pPr>
              <a:defRPr/>
            </a:pPr>
            <a:endParaRPr lang="en-US" dirty="0"/>
          </a:p>
          <a:p>
            <a:pPr>
              <a:defRPr/>
            </a:pPr>
            <a:endParaRPr lang="en-US" dirty="0"/>
          </a:p>
        </p:txBody>
      </p:sp>
    </p:spTree>
    <p:extLst>
      <p:ext uri="{BB962C8B-B14F-4D97-AF65-F5344CB8AC3E}">
        <p14:creationId xmlns:p14="http://schemas.microsoft.com/office/powerpoint/2010/main" val="2552057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161616"/>
                </a:solidFill>
                <a:effectLst/>
                <a:latin typeface="Segoe UI" panose="020B0502040204020203" pitchFamily="34" charset="0"/>
              </a:rPr>
              <a:t>Name resolution is the process of matching the name of a computer to its network address. This module looks at name resolution issues for public networks, private networks, and internal networks</a:t>
            </a:r>
            <a:endParaRPr lang="en-US" dirty="0"/>
          </a:p>
        </p:txBody>
      </p:sp>
      <p:sp>
        <p:nvSpPr>
          <p:cNvPr id="4" name="Slide Number Placeholder 3"/>
          <p:cNvSpPr>
            <a:spLocks noGrp="1"/>
          </p:cNvSpPr>
          <p:nvPr>
            <p:ph type="sldNum" sz="quarter" idx="10"/>
          </p:nvPr>
        </p:nvSpPr>
        <p:spPr/>
        <p:txBody>
          <a:bodyPr/>
          <a:lstStyle/>
          <a:p>
            <a:fld id="{E2FF7759-803D-4F76-9AEC-98B2D9A07B0D}" type="slidenum">
              <a:rPr lang="en-US" smtClean="0"/>
              <a:t>9</a:t>
            </a:fld>
            <a:endParaRPr lang="en-US" dirty="0"/>
          </a:p>
        </p:txBody>
      </p:sp>
      <p:sp>
        <p:nvSpPr>
          <p:cNvPr id="5" name="Rectangle 3"/>
          <p:cNvSpPr>
            <a:spLocks noGrp="1" noChangeArrowheads="1"/>
          </p:cNvSpPr>
          <p:nvPr>
            <p:ph type="dt" sz="quarter" idx="1"/>
          </p:nvPr>
        </p:nvSpPr>
        <p:spPr>
          <a:xfrm>
            <a:off x="271190" y="190054"/>
            <a:ext cx="2002155" cy="494128"/>
          </a:xfrm>
        </p:spPr>
        <p:txBody>
          <a:bodyPr/>
          <a:lstStyle/>
          <a:p>
            <a:pPr algn="l">
              <a:defRPr/>
            </a:pPr>
            <a:r>
              <a:rPr lang="en-US" b="1" dirty="0">
                <a:latin typeface="Arial" pitchFamily="34" charset="0"/>
                <a:cs typeface="Arial" pitchFamily="34" charset="0"/>
              </a:rPr>
              <a:t>Course 10982B</a:t>
            </a:r>
          </a:p>
          <a:p>
            <a:pPr algn="l">
              <a:defRPr/>
            </a:pPr>
            <a:r>
              <a:rPr lang="en-US" b="1" dirty="0">
                <a:solidFill>
                  <a:srgbClr val="336699"/>
                </a:solidFill>
                <a:latin typeface="Arial" pitchFamily="34" charset="0"/>
                <a:cs typeface="Arial" pitchFamily="34" charset="0"/>
              </a:rPr>
              <a:t>Module</a:t>
            </a:r>
            <a:r>
              <a:rPr lang="en-US" b="1" dirty="0">
                <a:latin typeface="Arial" pitchFamily="34" charset="0"/>
                <a:cs typeface="Arial" pitchFamily="34" charset="0"/>
              </a:rPr>
              <a:t> </a:t>
            </a:r>
            <a:r>
              <a:rPr lang="en-US" b="1" dirty="0">
                <a:solidFill>
                  <a:srgbClr val="336699"/>
                </a:solidFill>
                <a:latin typeface="Arial" pitchFamily="34" charset="0"/>
                <a:cs typeface="Arial" pitchFamily="34" charset="0"/>
              </a:rPr>
              <a:t>0: Introduction</a:t>
            </a:r>
          </a:p>
          <a:p>
            <a:pPr>
              <a:defRPr/>
            </a:pPr>
            <a:endParaRPr lang="en-US" dirty="0"/>
          </a:p>
          <a:p>
            <a:pPr>
              <a:defRPr/>
            </a:pPr>
            <a:endParaRPr lang="en-US" dirty="0"/>
          </a:p>
        </p:txBody>
      </p:sp>
    </p:spTree>
    <p:extLst>
      <p:ext uri="{BB962C8B-B14F-4D97-AF65-F5344CB8AC3E}">
        <p14:creationId xmlns:p14="http://schemas.microsoft.com/office/powerpoint/2010/main" val="24771212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2FF7759-803D-4F76-9AEC-98B2D9A07B0D}" type="slidenum">
              <a:rPr lang="en-US" smtClean="0"/>
              <a:t>10</a:t>
            </a:fld>
            <a:endParaRPr lang="en-US" dirty="0"/>
          </a:p>
        </p:txBody>
      </p:sp>
      <p:sp>
        <p:nvSpPr>
          <p:cNvPr id="5" name="Rectangle 3"/>
          <p:cNvSpPr>
            <a:spLocks noGrp="1" noChangeArrowheads="1"/>
          </p:cNvSpPr>
          <p:nvPr>
            <p:ph type="dt" sz="quarter" idx="1"/>
          </p:nvPr>
        </p:nvSpPr>
        <p:spPr>
          <a:xfrm>
            <a:off x="271190" y="190054"/>
            <a:ext cx="2002155" cy="494128"/>
          </a:xfrm>
        </p:spPr>
        <p:txBody>
          <a:bodyPr/>
          <a:lstStyle/>
          <a:p>
            <a:pPr algn="l">
              <a:defRPr/>
            </a:pPr>
            <a:r>
              <a:rPr lang="en-US" b="1" dirty="0">
                <a:latin typeface="Arial" pitchFamily="34" charset="0"/>
                <a:cs typeface="Arial" pitchFamily="34" charset="0"/>
              </a:rPr>
              <a:t>Course 10982B</a:t>
            </a:r>
          </a:p>
          <a:p>
            <a:pPr algn="l">
              <a:defRPr/>
            </a:pPr>
            <a:r>
              <a:rPr lang="en-US" b="1" dirty="0">
                <a:solidFill>
                  <a:srgbClr val="336699"/>
                </a:solidFill>
                <a:latin typeface="Arial" pitchFamily="34" charset="0"/>
                <a:cs typeface="Arial" pitchFamily="34" charset="0"/>
              </a:rPr>
              <a:t>Module</a:t>
            </a:r>
            <a:r>
              <a:rPr lang="en-US" b="1" dirty="0">
                <a:latin typeface="Arial" pitchFamily="34" charset="0"/>
                <a:cs typeface="Arial" pitchFamily="34" charset="0"/>
              </a:rPr>
              <a:t> </a:t>
            </a:r>
            <a:r>
              <a:rPr lang="en-US" b="1" dirty="0">
                <a:solidFill>
                  <a:srgbClr val="336699"/>
                </a:solidFill>
                <a:latin typeface="Arial" pitchFamily="34" charset="0"/>
                <a:cs typeface="Arial" pitchFamily="34" charset="0"/>
              </a:rPr>
              <a:t>0: Introduction</a:t>
            </a:r>
          </a:p>
          <a:p>
            <a:pPr>
              <a:defRPr/>
            </a:pPr>
            <a:endParaRPr lang="en-US" dirty="0"/>
          </a:p>
          <a:p>
            <a:pPr>
              <a:defRPr/>
            </a:pPr>
            <a:endParaRPr lang="en-US" dirty="0"/>
          </a:p>
        </p:txBody>
      </p:sp>
    </p:spTree>
    <p:extLst>
      <p:ext uri="{BB962C8B-B14F-4D97-AF65-F5344CB8AC3E}">
        <p14:creationId xmlns:p14="http://schemas.microsoft.com/office/powerpoint/2010/main" val="24809528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dirty="0"/>
              <a:t>https://techdirectarchive.com/2022/01/07/how-to-install-windows-admin-center-on-windows-10-11/</a:t>
            </a:r>
          </a:p>
          <a:p>
            <a:pPr algn="l"/>
            <a:endParaRPr lang="en-US" dirty="0"/>
          </a:p>
        </p:txBody>
      </p:sp>
      <p:sp>
        <p:nvSpPr>
          <p:cNvPr id="4" name="Slide Number Placeholder 3"/>
          <p:cNvSpPr>
            <a:spLocks noGrp="1"/>
          </p:cNvSpPr>
          <p:nvPr>
            <p:ph type="sldNum" sz="quarter" idx="10"/>
          </p:nvPr>
        </p:nvSpPr>
        <p:spPr/>
        <p:txBody>
          <a:bodyPr/>
          <a:lstStyle/>
          <a:p>
            <a:fld id="{E2FF7759-803D-4F76-9AEC-98B2D9A07B0D}" type="slidenum">
              <a:rPr lang="en-US" smtClean="0"/>
              <a:t>11</a:t>
            </a:fld>
            <a:endParaRPr lang="en-US" dirty="0"/>
          </a:p>
        </p:txBody>
      </p:sp>
      <p:sp>
        <p:nvSpPr>
          <p:cNvPr id="5" name="Rectangle 3"/>
          <p:cNvSpPr>
            <a:spLocks noGrp="1" noChangeArrowheads="1"/>
          </p:cNvSpPr>
          <p:nvPr>
            <p:ph type="dt" sz="quarter" idx="1"/>
          </p:nvPr>
        </p:nvSpPr>
        <p:spPr>
          <a:xfrm>
            <a:off x="271190" y="190054"/>
            <a:ext cx="2002155" cy="494128"/>
          </a:xfrm>
        </p:spPr>
        <p:txBody>
          <a:bodyPr/>
          <a:lstStyle/>
          <a:p>
            <a:pPr algn="l">
              <a:defRPr/>
            </a:pPr>
            <a:r>
              <a:rPr lang="en-US" b="1" dirty="0">
                <a:latin typeface="Arial" pitchFamily="34" charset="0"/>
                <a:cs typeface="Arial" pitchFamily="34" charset="0"/>
              </a:rPr>
              <a:t>Course 10982B</a:t>
            </a:r>
          </a:p>
          <a:p>
            <a:pPr algn="l">
              <a:defRPr/>
            </a:pPr>
            <a:r>
              <a:rPr lang="en-US" b="1" dirty="0">
                <a:solidFill>
                  <a:srgbClr val="336699"/>
                </a:solidFill>
                <a:latin typeface="Arial" pitchFamily="34" charset="0"/>
                <a:cs typeface="Arial" pitchFamily="34" charset="0"/>
              </a:rPr>
              <a:t>Module</a:t>
            </a:r>
            <a:r>
              <a:rPr lang="en-US" b="1" dirty="0">
                <a:latin typeface="Arial" pitchFamily="34" charset="0"/>
                <a:cs typeface="Arial" pitchFamily="34" charset="0"/>
              </a:rPr>
              <a:t> </a:t>
            </a:r>
            <a:r>
              <a:rPr lang="en-US" b="1" dirty="0">
                <a:solidFill>
                  <a:srgbClr val="336699"/>
                </a:solidFill>
                <a:latin typeface="Arial" pitchFamily="34" charset="0"/>
                <a:cs typeface="Arial" pitchFamily="34" charset="0"/>
              </a:rPr>
              <a:t>0: Introduction</a:t>
            </a:r>
          </a:p>
          <a:p>
            <a:pPr>
              <a:defRPr/>
            </a:pPr>
            <a:endParaRPr lang="en-US" dirty="0"/>
          </a:p>
          <a:p>
            <a:pPr>
              <a:defRPr/>
            </a:pPr>
            <a:endParaRPr lang="en-US" dirty="0"/>
          </a:p>
        </p:txBody>
      </p:sp>
    </p:spTree>
    <p:extLst>
      <p:ext uri="{BB962C8B-B14F-4D97-AF65-F5344CB8AC3E}">
        <p14:creationId xmlns:p14="http://schemas.microsoft.com/office/powerpoint/2010/main" val="34980993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2FF7759-803D-4F76-9AEC-98B2D9A07B0D}" type="slidenum">
              <a:rPr lang="en-US" smtClean="0"/>
              <a:t>12</a:t>
            </a:fld>
            <a:endParaRPr lang="en-US" dirty="0"/>
          </a:p>
        </p:txBody>
      </p:sp>
      <p:sp>
        <p:nvSpPr>
          <p:cNvPr id="5" name="Rectangle 3"/>
          <p:cNvSpPr>
            <a:spLocks noGrp="1" noChangeArrowheads="1"/>
          </p:cNvSpPr>
          <p:nvPr>
            <p:ph type="dt" sz="quarter" idx="1"/>
          </p:nvPr>
        </p:nvSpPr>
        <p:spPr>
          <a:xfrm>
            <a:off x="271190" y="190054"/>
            <a:ext cx="2002155" cy="494128"/>
          </a:xfrm>
        </p:spPr>
        <p:txBody>
          <a:bodyPr/>
          <a:lstStyle/>
          <a:p>
            <a:pPr algn="l">
              <a:defRPr/>
            </a:pPr>
            <a:r>
              <a:rPr lang="en-US" b="1" dirty="0">
                <a:latin typeface="Arial" pitchFamily="34" charset="0"/>
                <a:cs typeface="Arial" pitchFamily="34" charset="0"/>
              </a:rPr>
              <a:t>Course 10982B</a:t>
            </a:r>
          </a:p>
          <a:p>
            <a:pPr algn="l">
              <a:defRPr/>
            </a:pPr>
            <a:r>
              <a:rPr lang="en-US" b="1" dirty="0">
                <a:solidFill>
                  <a:srgbClr val="336699"/>
                </a:solidFill>
                <a:latin typeface="Arial" pitchFamily="34" charset="0"/>
                <a:cs typeface="Arial" pitchFamily="34" charset="0"/>
              </a:rPr>
              <a:t>Module</a:t>
            </a:r>
            <a:r>
              <a:rPr lang="en-US" b="1" dirty="0">
                <a:latin typeface="Arial" pitchFamily="34" charset="0"/>
                <a:cs typeface="Arial" pitchFamily="34" charset="0"/>
              </a:rPr>
              <a:t> </a:t>
            </a:r>
            <a:r>
              <a:rPr lang="en-US" b="1" dirty="0">
                <a:solidFill>
                  <a:srgbClr val="336699"/>
                </a:solidFill>
                <a:latin typeface="Arial" pitchFamily="34" charset="0"/>
                <a:cs typeface="Arial" pitchFamily="34" charset="0"/>
              </a:rPr>
              <a:t>0: Introduction</a:t>
            </a:r>
          </a:p>
          <a:p>
            <a:pPr>
              <a:defRPr/>
            </a:pPr>
            <a:endParaRPr lang="en-US" dirty="0"/>
          </a:p>
          <a:p>
            <a:pPr>
              <a:defRPr/>
            </a:pPr>
            <a:endParaRPr lang="en-US" dirty="0"/>
          </a:p>
        </p:txBody>
      </p:sp>
    </p:spTree>
    <p:extLst>
      <p:ext uri="{BB962C8B-B14F-4D97-AF65-F5344CB8AC3E}">
        <p14:creationId xmlns:p14="http://schemas.microsoft.com/office/powerpoint/2010/main" val="38456703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fld id="{E2FF7759-803D-4F76-9AEC-98B2D9A07B0D}" type="slidenum">
              <a:rPr lang="en-US" smtClean="0"/>
              <a:t>13</a:t>
            </a:fld>
            <a:endParaRPr lang="en-US" dirty="0"/>
          </a:p>
        </p:txBody>
      </p:sp>
      <p:sp>
        <p:nvSpPr>
          <p:cNvPr id="5" name="Rectangle 3"/>
          <p:cNvSpPr>
            <a:spLocks noGrp="1" noChangeArrowheads="1"/>
          </p:cNvSpPr>
          <p:nvPr>
            <p:ph type="dt" sz="quarter" idx="1"/>
          </p:nvPr>
        </p:nvSpPr>
        <p:spPr>
          <a:xfrm>
            <a:off x="271190" y="190054"/>
            <a:ext cx="2002155" cy="494128"/>
          </a:xfrm>
        </p:spPr>
        <p:txBody>
          <a:bodyPr/>
          <a:lstStyle/>
          <a:p>
            <a:pPr algn="l">
              <a:defRPr/>
            </a:pPr>
            <a:r>
              <a:rPr lang="en-US" b="1" dirty="0">
                <a:latin typeface="Arial" pitchFamily="34" charset="0"/>
                <a:cs typeface="Arial" pitchFamily="34" charset="0"/>
              </a:rPr>
              <a:t>Course 10982B</a:t>
            </a:r>
          </a:p>
          <a:p>
            <a:pPr algn="l">
              <a:defRPr/>
            </a:pPr>
            <a:r>
              <a:rPr lang="en-US" b="1" dirty="0">
                <a:solidFill>
                  <a:srgbClr val="336699"/>
                </a:solidFill>
                <a:latin typeface="Arial" pitchFamily="34" charset="0"/>
                <a:cs typeface="Arial" pitchFamily="34" charset="0"/>
              </a:rPr>
              <a:t>Module</a:t>
            </a:r>
            <a:r>
              <a:rPr lang="en-US" b="1" dirty="0">
                <a:latin typeface="Arial" pitchFamily="34" charset="0"/>
                <a:cs typeface="Arial" pitchFamily="34" charset="0"/>
              </a:rPr>
              <a:t> </a:t>
            </a:r>
            <a:r>
              <a:rPr lang="en-US" b="1" dirty="0">
                <a:solidFill>
                  <a:srgbClr val="336699"/>
                </a:solidFill>
                <a:latin typeface="Arial" pitchFamily="34" charset="0"/>
                <a:cs typeface="Arial" pitchFamily="34" charset="0"/>
              </a:rPr>
              <a:t>0: Introduction</a:t>
            </a:r>
          </a:p>
          <a:p>
            <a:pPr>
              <a:defRPr/>
            </a:pPr>
            <a:endParaRPr lang="en-US" dirty="0"/>
          </a:p>
          <a:p>
            <a:pPr>
              <a:defRPr/>
            </a:pPr>
            <a:endParaRPr lang="en-US" dirty="0"/>
          </a:p>
        </p:txBody>
      </p:sp>
    </p:spTree>
    <p:extLst>
      <p:ext uri="{BB962C8B-B14F-4D97-AF65-F5344CB8AC3E}">
        <p14:creationId xmlns:p14="http://schemas.microsoft.com/office/powerpoint/2010/main" val="1195338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2FF7759-803D-4F76-9AEC-98B2D9A07B0D}" type="slidenum">
              <a:rPr lang="en-US" smtClean="0"/>
              <a:t>15</a:t>
            </a:fld>
            <a:endParaRPr lang="en-US" dirty="0"/>
          </a:p>
        </p:txBody>
      </p:sp>
      <p:sp>
        <p:nvSpPr>
          <p:cNvPr id="5" name="Rectangle 3"/>
          <p:cNvSpPr>
            <a:spLocks noGrp="1" noChangeArrowheads="1"/>
          </p:cNvSpPr>
          <p:nvPr>
            <p:ph type="dt" sz="quarter" idx="1"/>
          </p:nvPr>
        </p:nvSpPr>
        <p:spPr>
          <a:xfrm>
            <a:off x="271190" y="190054"/>
            <a:ext cx="2002155" cy="494128"/>
          </a:xfrm>
        </p:spPr>
        <p:txBody>
          <a:bodyPr/>
          <a:lstStyle/>
          <a:p>
            <a:pPr algn="l">
              <a:defRPr/>
            </a:pPr>
            <a:r>
              <a:rPr lang="en-US" b="1" dirty="0">
                <a:latin typeface="Arial" pitchFamily="34" charset="0"/>
                <a:cs typeface="Arial" pitchFamily="34" charset="0"/>
              </a:rPr>
              <a:t>Course 10982B</a:t>
            </a:r>
          </a:p>
          <a:p>
            <a:pPr algn="l">
              <a:defRPr/>
            </a:pPr>
            <a:r>
              <a:rPr lang="en-US" b="1" dirty="0">
                <a:solidFill>
                  <a:srgbClr val="336699"/>
                </a:solidFill>
                <a:latin typeface="Arial" pitchFamily="34" charset="0"/>
                <a:cs typeface="Arial" pitchFamily="34" charset="0"/>
              </a:rPr>
              <a:t>Module</a:t>
            </a:r>
            <a:r>
              <a:rPr lang="en-US" b="1" dirty="0">
                <a:latin typeface="Arial" pitchFamily="34" charset="0"/>
                <a:cs typeface="Arial" pitchFamily="34" charset="0"/>
              </a:rPr>
              <a:t> </a:t>
            </a:r>
            <a:r>
              <a:rPr lang="en-US" b="1" dirty="0">
                <a:solidFill>
                  <a:srgbClr val="336699"/>
                </a:solidFill>
                <a:latin typeface="Arial" pitchFamily="34" charset="0"/>
                <a:cs typeface="Arial" pitchFamily="34" charset="0"/>
              </a:rPr>
              <a:t>0: Introduction</a:t>
            </a:r>
          </a:p>
          <a:p>
            <a:pPr>
              <a:defRPr/>
            </a:pPr>
            <a:endParaRPr lang="en-US" dirty="0"/>
          </a:p>
          <a:p>
            <a:pPr>
              <a:defRPr/>
            </a:pPr>
            <a:endParaRPr lang="en-US" dirty="0"/>
          </a:p>
        </p:txBody>
      </p:sp>
    </p:spTree>
    <p:extLst>
      <p:ext uri="{BB962C8B-B14F-4D97-AF65-F5344CB8AC3E}">
        <p14:creationId xmlns:p14="http://schemas.microsoft.com/office/powerpoint/2010/main" val="230010781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OC Title Slide">
    <p:spTree>
      <p:nvGrpSpPr>
        <p:cNvPr id="1" name=""/>
        <p:cNvGrpSpPr/>
        <p:nvPr/>
      </p:nvGrpSpPr>
      <p:grpSpPr>
        <a:xfrm>
          <a:off x="0" y="0"/>
          <a:ext cx="0" cy="0"/>
          <a:chOff x="0" y="0"/>
          <a:chExt cx="0" cy="0"/>
        </a:xfrm>
      </p:grpSpPr>
      <p:sp>
        <p:nvSpPr>
          <p:cNvPr id="6" name="Rectangle 5"/>
          <p:cNvSpPr/>
          <p:nvPr userDrawn="1"/>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 Placeholder 14"/>
          <p:cNvSpPr>
            <a:spLocks noGrp="1"/>
          </p:cNvSpPr>
          <p:nvPr>
            <p:ph type="body" sz="quarter" idx="10" hasCustomPrompt="1"/>
          </p:nvPr>
        </p:nvSpPr>
        <p:spPr>
          <a:xfrm>
            <a:off x="3108233" y="2514600"/>
            <a:ext cx="5687423" cy="1371600"/>
          </a:xfrm>
          <a:prstGeom prst="rect">
            <a:avLst/>
          </a:prstGeom>
        </p:spPr>
        <p:txBody>
          <a:bodyPr anchor="ctr"/>
          <a:lstStyle>
            <a:lvl1pPr marL="0" indent="0">
              <a:buNone/>
              <a:defRPr sz="8400" baseline="0">
                <a:solidFill>
                  <a:schemeClr val="bg1"/>
                </a:solidFill>
                <a:latin typeface="Segoe UI Light" pitchFamily="34" charset="0"/>
              </a:defRPr>
            </a:lvl1pPr>
          </a:lstStyle>
          <a:p>
            <a:pPr lvl="0"/>
            <a:r>
              <a:rPr lang="en-US" dirty="0"/>
              <a:t>&lt;Number&gt;</a:t>
            </a:r>
          </a:p>
        </p:txBody>
      </p:sp>
      <p:sp>
        <p:nvSpPr>
          <p:cNvPr id="19" name="Text Placeholder 18"/>
          <p:cNvSpPr>
            <a:spLocks noGrp="1"/>
          </p:cNvSpPr>
          <p:nvPr>
            <p:ph type="body" sz="quarter" idx="11" hasCustomPrompt="1"/>
          </p:nvPr>
        </p:nvSpPr>
        <p:spPr>
          <a:xfrm>
            <a:off x="3108233" y="3886200"/>
            <a:ext cx="5638800" cy="1143000"/>
          </a:xfrm>
          <a:prstGeom prst="rect">
            <a:avLst/>
          </a:prstGeom>
        </p:spPr>
        <p:txBody>
          <a:bodyPr/>
          <a:lstStyle>
            <a:lvl1pPr marL="0" indent="0">
              <a:buNone/>
              <a:defRPr sz="2800" baseline="0">
                <a:solidFill>
                  <a:schemeClr val="bg1"/>
                </a:solidFill>
                <a:latin typeface="Segoe UI" pitchFamily="34" charset="0"/>
                <a:ea typeface="Segoe UI" pitchFamily="34" charset="0"/>
                <a:cs typeface="Segoe UI" pitchFamily="34" charset="0"/>
              </a:defRPr>
            </a:lvl1pPr>
          </a:lstStyle>
          <a:p>
            <a:pPr lvl="0"/>
            <a:r>
              <a:rPr lang="en-US" dirty="0"/>
              <a:t>Course title starts here</a:t>
            </a:r>
          </a:p>
        </p:txBody>
      </p:sp>
      <p:pic>
        <p:nvPicPr>
          <p:cNvPr id="3" name="Picture 2"/>
          <p:cNvPicPr>
            <a:picLocks/>
          </p:cNvPicPr>
          <p:nvPr userDrawn="1"/>
        </p:nvPicPr>
        <p:blipFill>
          <a:blip r:embed="rId2">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pic>
        <p:nvPicPr>
          <p:cNvPr id="2" name="Picture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400800" y="5758770"/>
            <a:ext cx="2590800" cy="953009"/>
          </a:xfrm>
          <a:prstGeom prst="rect">
            <a:avLst/>
          </a:prstGeom>
        </p:spPr>
      </p:pic>
    </p:spTree>
    <p:extLst>
      <p:ext uri="{BB962C8B-B14F-4D97-AF65-F5344CB8AC3E}">
        <p14:creationId xmlns:p14="http://schemas.microsoft.com/office/powerpoint/2010/main" val="3390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ynamics Title Slide">
    <p:spTree>
      <p:nvGrpSpPr>
        <p:cNvPr id="1" name=""/>
        <p:cNvGrpSpPr/>
        <p:nvPr/>
      </p:nvGrpSpPr>
      <p:grpSpPr>
        <a:xfrm>
          <a:off x="0" y="0"/>
          <a:ext cx="0" cy="0"/>
          <a:chOff x="0" y="0"/>
          <a:chExt cx="0" cy="0"/>
        </a:xfrm>
      </p:grpSpPr>
      <p:sp>
        <p:nvSpPr>
          <p:cNvPr id="6" name="Rectangle 5"/>
          <p:cNvSpPr/>
          <p:nvPr userDrawn="1"/>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 Placeholder 14"/>
          <p:cNvSpPr>
            <a:spLocks noGrp="1"/>
          </p:cNvSpPr>
          <p:nvPr>
            <p:ph type="body" sz="quarter" idx="10" hasCustomPrompt="1"/>
          </p:nvPr>
        </p:nvSpPr>
        <p:spPr>
          <a:xfrm>
            <a:off x="3108233" y="2514600"/>
            <a:ext cx="5687423" cy="1371600"/>
          </a:xfrm>
          <a:prstGeom prst="rect">
            <a:avLst/>
          </a:prstGeom>
        </p:spPr>
        <p:txBody>
          <a:bodyPr anchor="ctr"/>
          <a:lstStyle>
            <a:lvl1pPr marL="0" indent="0">
              <a:buNone/>
              <a:defRPr sz="8400" baseline="0">
                <a:solidFill>
                  <a:schemeClr val="bg1"/>
                </a:solidFill>
                <a:latin typeface="Segoe UI Light" pitchFamily="34" charset="0"/>
              </a:defRPr>
            </a:lvl1pPr>
          </a:lstStyle>
          <a:p>
            <a:pPr lvl="0"/>
            <a:r>
              <a:rPr lang="en-US" dirty="0"/>
              <a:t>&lt;Number&gt;</a:t>
            </a:r>
          </a:p>
        </p:txBody>
      </p:sp>
      <p:sp>
        <p:nvSpPr>
          <p:cNvPr id="19" name="Text Placeholder 18"/>
          <p:cNvSpPr>
            <a:spLocks noGrp="1"/>
          </p:cNvSpPr>
          <p:nvPr>
            <p:ph type="body" sz="quarter" idx="11" hasCustomPrompt="1"/>
          </p:nvPr>
        </p:nvSpPr>
        <p:spPr>
          <a:xfrm>
            <a:off x="3108233" y="3886200"/>
            <a:ext cx="5638800" cy="1143000"/>
          </a:xfrm>
          <a:prstGeom prst="rect">
            <a:avLst/>
          </a:prstGeom>
        </p:spPr>
        <p:txBody>
          <a:bodyPr/>
          <a:lstStyle>
            <a:lvl1pPr marL="0" indent="0">
              <a:buNone/>
              <a:defRPr sz="2800" baseline="0">
                <a:solidFill>
                  <a:schemeClr val="bg1"/>
                </a:solidFill>
                <a:latin typeface="Segoe UI" pitchFamily="34" charset="0"/>
                <a:ea typeface="Segoe UI" pitchFamily="34" charset="0"/>
                <a:cs typeface="Segoe UI" pitchFamily="34" charset="0"/>
              </a:defRPr>
            </a:lvl1pPr>
          </a:lstStyle>
          <a:p>
            <a:pPr lvl="0"/>
            <a:r>
              <a:rPr lang="en-US" dirty="0"/>
              <a:t>Course title starts here</a:t>
            </a: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09600" y="1193478"/>
            <a:ext cx="4710223" cy="1016322"/>
          </a:xfrm>
          <a:prstGeom prst="rect">
            <a:avLst/>
          </a:prstGeom>
        </p:spPr>
      </p:pic>
      <p:pic>
        <p:nvPicPr>
          <p:cNvPr id="10" name="Picture 9"/>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Tree>
    <p:extLst>
      <p:ext uri="{BB962C8B-B14F-4D97-AF65-F5344CB8AC3E}">
        <p14:creationId xmlns:p14="http://schemas.microsoft.com/office/powerpoint/2010/main" val="2754500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Module opener">
    <p:spTree>
      <p:nvGrpSpPr>
        <p:cNvPr id="1" name=""/>
        <p:cNvGrpSpPr/>
        <p:nvPr/>
      </p:nvGrpSpPr>
      <p:grpSpPr>
        <a:xfrm>
          <a:off x="0" y="0"/>
          <a:ext cx="0" cy="0"/>
          <a:chOff x="0" y="0"/>
          <a:chExt cx="0" cy="0"/>
        </a:xfrm>
      </p:grpSpPr>
      <p:sp>
        <p:nvSpPr>
          <p:cNvPr id="6" name="Rectangle 5"/>
          <p:cNvSpPr/>
          <p:nvPr userDrawn="1"/>
        </p:nvSpPr>
        <p:spPr>
          <a:xfrm>
            <a:off x="-293914" y="-76200"/>
            <a:ext cx="9448800" cy="7239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p:cNvSpPr/>
          <p:nvPr userDrawn="1"/>
        </p:nvSpPr>
        <p:spPr>
          <a:xfrm>
            <a:off x="2286000" y="2514600"/>
            <a:ext cx="6858000" cy="881743"/>
          </a:xfrm>
          <a:prstGeom prst="rect">
            <a:avLst/>
          </a:prstGeom>
          <a:solidFill>
            <a:srgbClr val="33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 Placeholder 14"/>
          <p:cNvSpPr>
            <a:spLocks noGrp="1"/>
          </p:cNvSpPr>
          <p:nvPr>
            <p:ph type="body" sz="quarter" idx="11" hasCustomPrompt="1"/>
          </p:nvPr>
        </p:nvSpPr>
        <p:spPr>
          <a:xfrm>
            <a:off x="2590800" y="2514600"/>
            <a:ext cx="5638800" cy="881743"/>
          </a:xfrm>
          <a:prstGeom prst="rect">
            <a:avLst/>
          </a:prstGeom>
        </p:spPr>
        <p:txBody>
          <a:bodyPr anchor="ctr"/>
          <a:lstStyle>
            <a:lvl1pPr marL="0" indent="0">
              <a:buNone/>
              <a:defRPr sz="4800" baseline="0">
                <a:solidFill>
                  <a:schemeClr val="bg1"/>
                </a:solidFill>
                <a:latin typeface="Segoe UI" pitchFamily="34" charset="0"/>
                <a:ea typeface="Segoe UI" pitchFamily="34" charset="0"/>
                <a:cs typeface="Segoe UI" pitchFamily="34" charset="0"/>
              </a:defRPr>
            </a:lvl1pPr>
          </a:lstStyle>
          <a:p>
            <a:pPr lvl="0"/>
            <a:r>
              <a:rPr lang="en-US"/>
              <a:t>Module &lt;Number</a:t>
            </a:r>
            <a:r>
              <a:rPr lang="en-US" dirty="0"/>
              <a:t>&gt;</a:t>
            </a:r>
          </a:p>
        </p:txBody>
      </p:sp>
      <p:sp>
        <p:nvSpPr>
          <p:cNvPr id="9" name="Text Placeholder 18"/>
          <p:cNvSpPr>
            <a:spLocks noGrp="1"/>
          </p:cNvSpPr>
          <p:nvPr>
            <p:ph type="body" sz="quarter" idx="12" hasCustomPrompt="1"/>
          </p:nvPr>
        </p:nvSpPr>
        <p:spPr>
          <a:xfrm>
            <a:off x="2590800" y="3505200"/>
            <a:ext cx="5624732" cy="1432560"/>
          </a:xfrm>
          <a:prstGeom prst="rect">
            <a:avLst/>
          </a:prstGeom>
        </p:spPr>
        <p:txBody>
          <a:bodyPr/>
          <a:lstStyle>
            <a:lvl1pPr marL="0" indent="0">
              <a:buNone/>
              <a:defRPr sz="2800" baseline="0">
                <a:solidFill>
                  <a:schemeClr val="bg1"/>
                </a:solidFill>
                <a:latin typeface="Segoe UI" pitchFamily="34" charset="0"/>
                <a:ea typeface="Segoe UI" pitchFamily="34" charset="0"/>
                <a:cs typeface="Segoe UI" pitchFamily="34" charset="0"/>
              </a:defRPr>
            </a:lvl1pPr>
          </a:lstStyle>
          <a:p>
            <a:pPr lvl="0"/>
            <a:r>
              <a:rPr lang="en-US" dirty="0"/>
              <a:t>Module title starts here</a:t>
            </a:r>
          </a:p>
        </p:txBody>
      </p:sp>
    </p:spTree>
    <p:extLst>
      <p:ext uri="{BB962C8B-B14F-4D97-AF65-F5344CB8AC3E}">
        <p14:creationId xmlns:p14="http://schemas.microsoft.com/office/powerpoint/2010/main" val="20434262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2pt Slide Title ">
    <p:spTree>
      <p:nvGrpSpPr>
        <p:cNvPr id="1" name=""/>
        <p:cNvGrpSpPr/>
        <p:nvPr/>
      </p:nvGrpSpPr>
      <p:grpSpPr>
        <a:xfrm>
          <a:off x="0" y="0"/>
          <a:ext cx="0" cy="0"/>
          <a:chOff x="0" y="0"/>
          <a:chExt cx="0" cy="0"/>
        </a:xfrm>
      </p:grpSpPr>
      <p:sp>
        <p:nvSpPr>
          <p:cNvPr id="8" name="Rectangle 7"/>
          <p:cNvSpPr/>
          <p:nvPr userDrawn="1"/>
        </p:nvSpPr>
        <p:spPr>
          <a:xfrm>
            <a:off x="0" y="0"/>
            <a:ext cx="9144000" cy="82296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hasCustomPrompt="1"/>
          </p:nvPr>
        </p:nvSpPr>
        <p:spPr>
          <a:xfrm>
            <a:off x="457200" y="0"/>
            <a:ext cx="8229600" cy="822960"/>
          </a:xfrm>
        </p:spPr>
        <p:txBody>
          <a:bodyPr>
            <a:noAutofit/>
          </a:bodyPr>
          <a:lstStyle>
            <a:lvl1pPr algn="l">
              <a:defRPr sz="3200" baseline="0">
                <a:solidFill>
                  <a:schemeClr val="bg1"/>
                </a:solidFill>
                <a:latin typeface="Segoe UI" pitchFamily="34" charset="0"/>
                <a:ea typeface="Segoe UI" pitchFamily="34" charset="0"/>
                <a:cs typeface="Segoe UI" pitchFamily="34" charset="0"/>
              </a:defRPr>
            </a:lvl1pPr>
          </a:lstStyle>
          <a:p>
            <a:r>
              <a:rPr lang="en-US" dirty="0"/>
              <a:t>32pt Slide Title</a:t>
            </a:r>
          </a:p>
        </p:txBody>
      </p:sp>
      <p:sp>
        <p:nvSpPr>
          <p:cNvPr id="10" name="Slide Number Placeholder 9"/>
          <p:cNvSpPr>
            <a:spLocks noGrp="1"/>
          </p:cNvSpPr>
          <p:nvPr>
            <p:ph type="sldNum" sz="quarter" idx="12"/>
          </p:nvPr>
        </p:nvSpPr>
        <p:spPr/>
        <p:txBody>
          <a:bodyPr/>
          <a:lstStyle>
            <a:lvl1pPr>
              <a:defRPr sz="1200">
                <a:solidFill>
                  <a:schemeClr val="tx1">
                    <a:lumMod val="65000"/>
                    <a:lumOff val="35000"/>
                  </a:schemeClr>
                </a:solidFill>
                <a:latin typeface="Segoe UI" pitchFamily="34" charset="0"/>
                <a:ea typeface="Segoe UI" pitchFamily="34" charset="0"/>
                <a:cs typeface="Segoe UI" pitchFamily="34" charset="0"/>
              </a:defRPr>
            </a:lvl1pPr>
          </a:lstStyle>
          <a:p>
            <a:fld id="{D814DA60-3BEE-4BCE-BEDB-E433FD970963}" type="slidenum">
              <a:rPr lang="en-US" smtClean="0"/>
              <a:pPr/>
              <a:t>‹#›</a:t>
            </a:fld>
            <a:endParaRPr lang="en-US" dirty="0"/>
          </a:p>
        </p:txBody>
      </p:sp>
      <p:sp>
        <p:nvSpPr>
          <p:cNvPr id="6" name="Footer Placeholder 8"/>
          <p:cNvSpPr>
            <a:spLocks noGrp="1"/>
          </p:cNvSpPr>
          <p:nvPr>
            <p:ph type="ftr" sz="quarter" idx="11"/>
          </p:nvPr>
        </p:nvSpPr>
        <p:spPr>
          <a:xfrm>
            <a:off x="457200" y="6324600"/>
            <a:ext cx="2895600" cy="365125"/>
          </a:xfrm>
        </p:spPr>
        <p:txBody>
          <a:bodyPr/>
          <a:lstStyle>
            <a:lvl1pPr algn="l">
              <a:defRPr/>
            </a:lvl1pPr>
          </a:lstStyle>
          <a:p>
            <a:endParaRPr lang="en-US" dirty="0"/>
          </a:p>
        </p:txBody>
      </p:sp>
      <p:sp>
        <p:nvSpPr>
          <p:cNvPr id="9" name="Text Placeholder 4"/>
          <p:cNvSpPr>
            <a:spLocks noGrp="1"/>
          </p:cNvSpPr>
          <p:nvPr>
            <p:ph type="body" sz="quarter" idx="13"/>
          </p:nvPr>
        </p:nvSpPr>
        <p:spPr>
          <a:xfrm>
            <a:off x="457200" y="1066800"/>
            <a:ext cx="8229600" cy="5105400"/>
          </a:xfrm>
          <a:prstGeom prst="rect">
            <a:avLst/>
          </a:prstGeom>
        </p:spPr>
        <p:txBody>
          <a:bodyPr/>
          <a:lstStyle>
            <a:lvl1pPr marL="457200" indent="-457200">
              <a:buClr>
                <a:srgbClr val="0070C0"/>
              </a:buClr>
              <a:buFont typeface="Arial" pitchFamily="34" charset="0"/>
              <a:buChar char="•"/>
              <a:defRPr sz="2800" b="0">
                <a:latin typeface="Segoe UI" pitchFamily="34" charset="0"/>
                <a:ea typeface="Segoe UI" pitchFamily="34" charset="0"/>
                <a:cs typeface="Segoe UI" pitchFamily="34" charset="0"/>
              </a:defRPr>
            </a:lvl1pPr>
            <a:lvl2pPr marL="800100" indent="-342900">
              <a:buClr>
                <a:srgbClr val="0070C0"/>
              </a:buClr>
              <a:buFont typeface="Arial" pitchFamily="34" charset="0"/>
              <a:buChar char="•"/>
              <a:defRPr sz="2400" b="0">
                <a:latin typeface="Segoe UI" pitchFamily="34" charset="0"/>
                <a:ea typeface="Segoe UI" pitchFamily="34" charset="0"/>
                <a:cs typeface="Segoe UI" pitchFamily="34" charset="0"/>
              </a:defRPr>
            </a:lvl2pPr>
            <a:lvl3pPr marL="1257300" indent="-342900">
              <a:buClr>
                <a:srgbClr val="0070C0"/>
              </a:buClr>
              <a:buFont typeface="Arial" pitchFamily="34" charset="0"/>
              <a:buChar char="•"/>
              <a:defRPr sz="2000" b="0">
                <a:latin typeface="Segoe UI" pitchFamily="34" charset="0"/>
                <a:ea typeface="Segoe UI" pitchFamily="34" charset="0"/>
                <a:cs typeface="Segoe UI" pitchFamily="34" charset="0"/>
              </a:defRPr>
            </a:lvl3pPr>
            <a:lvl4pPr>
              <a:defRPr>
                <a:latin typeface="Segoe UI" pitchFamily="34" charset="0"/>
                <a:ea typeface="Segoe UI" pitchFamily="34" charset="0"/>
                <a:cs typeface="Segoe UI" pitchFamily="34" charset="0"/>
              </a:defRPr>
            </a:lvl4pPr>
            <a:lvl5pPr>
              <a:defRPr>
                <a:latin typeface="Segoe UI" pitchFamily="34" charset="0"/>
                <a:ea typeface="Segoe UI" pitchFamily="34" charset="0"/>
                <a:cs typeface="Segoe UI"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118172318"/>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8pt Slide Title">
    <p:spTree>
      <p:nvGrpSpPr>
        <p:cNvPr id="1" name=""/>
        <p:cNvGrpSpPr/>
        <p:nvPr/>
      </p:nvGrpSpPr>
      <p:grpSpPr>
        <a:xfrm>
          <a:off x="0" y="0"/>
          <a:ext cx="0" cy="0"/>
          <a:chOff x="0" y="0"/>
          <a:chExt cx="0" cy="0"/>
        </a:xfrm>
      </p:grpSpPr>
      <p:sp>
        <p:nvSpPr>
          <p:cNvPr id="8" name="Rectangle 7"/>
          <p:cNvSpPr/>
          <p:nvPr userDrawn="1"/>
        </p:nvSpPr>
        <p:spPr>
          <a:xfrm>
            <a:off x="0" y="0"/>
            <a:ext cx="9144000" cy="82296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hasCustomPrompt="1"/>
          </p:nvPr>
        </p:nvSpPr>
        <p:spPr>
          <a:xfrm>
            <a:off x="457200" y="0"/>
            <a:ext cx="8229600" cy="822960"/>
          </a:xfrm>
        </p:spPr>
        <p:txBody>
          <a:bodyPr>
            <a:noAutofit/>
          </a:bodyPr>
          <a:lstStyle>
            <a:lvl1pPr algn="l">
              <a:defRPr sz="2800" baseline="0">
                <a:solidFill>
                  <a:schemeClr val="bg1"/>
                </a:solidFill>
                <a:latin typeface="Segoe UI" pitchFamily="34" charset="0"/>
                <a:ea typeface="Segoe UI" pitchFamily="34" charset="0"/>
                <a:cs typeface="Segoe UI" pitchFamily="34" charset="0"/>
              </a:defRPr>
            </a:lvl1pPr>
          </a:lstStyle>
          <a:p>
            <a:r>
              <a:rPr lang="en-US" dirty="0"/>
              <a:t>28 </a:t>
            </a:r>
            <a:r>
              <a:rPr lang="en-US" dirty="0" err="1"/>
              <a:t>pt</a:t>
            </a:r>
            <a:r>
              <a:rPr lang="en-US" dirty="0"/>
              <a:t> Slide Title</a:t>
            </a:r>
          </a:p>
        </p:txBody>
      </p:sp>
      <p:sp>
        <p:nvSpPr>
          <p:cNvPr id="6" name="Footer Placeholder 5"/>
          <p:cNvSpPr>
            <a:spLocks noGrp="1"/>
          </p:cNvSpPr>
          <p:nvPr>
            <p:ph type="ftr" sz="quarter" idx="11"/>
          </p:nvPr>
        </p:nvSpPr>
        <p:spPr>
          <a:xfrm>
            <a:off x="457200" y="6324600"/>
            <a:ext cx="2895600" cy="365125"/>
          </a:xfrm>
        </p:spPr>
        <p:txBody>
          <a:bodyPr/>
          <a:lstStyle>
            <a:lvl1pPr algn="l">
              <a:defRPr/>
            </a:lvl1pPr>
          </a:lstStyle>
          <a:p>
            <a:endParaRPr lang="en-US" dirty="0"/>
          </a:p>
        </p:txBody>
      </p:sp>
      <p:sp>
        <p:nvSpPr>
          <p:cNvPr id="7" name="Slide Number Placeholder 6"/>
          <p:cNvSpPr>
            <a:spLocks noGrp="1"/>
          </p:cNvSpPr>
          <p:nvPr>
            <p:ph type="sldNum" sz="quarter" idx="12"/>
          </p:nvPr>
        </p:nvSpPr>
        <p:spPr/>
        <p:txBody>
          <a:bodyPr/>
          <a:lstStyle/>
          <a:p>
            <a:fld id="{D814DA60-3BEE-4BCE-BEDB-E433FD970963}" type="slidenum">
              <a:rPr lang="en-US" smtClean="0"/>
              <a:pPr/>
              <a:t>‹#›</a:t>
            </a:fld>
            <a:endParaRPr lang="en-US" dirty="0"/>
          </a:p>
        </p:txBody>
      </p:sp>
      <p:sp>
        <p:nvSpPr>
          <p:cNvPr id="9" name="Text Placeholder 4"/>
          <p:cNvSpPr>
            <a:spLocks noGrp="1"/>
          </p:cNvSpPr>
          <p:nvPr>
            <p:ph type="body" sz="quarter" idx="13"/>
          </p:nvPr>
        </p:nvSpPr>
        <p:spPr>
          <a:xfrm>
            <a:off x="457200" y="1066800"/>
            <a:ext cx="8229600" cy="5105400"/>
          </a:xfrm>
          <a:prstGeom prst="rect">
            <a:avLst/>
          </a:prstGeom>
        </p:spPr>
        <p:txBody>
          <a:bodyPr/>
          <a:lstStyle>
            <a:lvl1pPr marL="457200" indent="-457200">
              <a:buClr>
                <a:srgbClr val="0070C0"/>
              </a:buClr>
              <a:buFont typeface="Arial" pitchFamily="34" charset="0"/>
              <a:buChar char="•"/>
              <a:defRPr sz="2800" b="0">
                <a:latin typeface="Segoe UI" pitchFamily="34" charset="0"/>
                <a:ea typeface="Segoe UI" pitchFamily="34" charset="0"/>
                <a:cs typeface="Segoe UI" pitchFamily="34" charset="0"/>
              </a:defRPr>
            </a:lvl1pPr>
            <a:lvl2pPr marL="800100" indent="-342900">
              <a:buClr>
                <a:srgbClr val="0070C0"/>
              </a:buClr>
              <a:buFont typeface="Arial" pitchFamily="34" charset="0"/>
              <a:buChar char="•"/>
              <a:defRPr sz="2400" b="0">
                <a:latin typeface="Segoe UI" pitchFamily="34" charset="0"/>
                <a:ea typeface="Segoe UI" pitchFamily="34" charset="0"/>
                <a:cs typeface="Segoe UI" pitchFamily="34" charset="0"/>
              </a:defRPr>
            </a:lvl2pPr>
            <a:lvl3pPr marL="1257300" indent="-342900">
              <a:buClr>
                <a:srgbClr val="0070C0"/>
              </a:buClr>
              <a:buFont typeface="Arial" pitchFamily="34" charset="0"/>
              <a:buChar char="•"/>
              <a:defRPr sz="2000" b="0">
                <a:latin typeface="Segoe UI" pitchFamily="34" charset="0"/>
                <a:ea typeface="Segoe UI" pitchFamily="34" charset="0"/>
                <a:cs typeface="Segoe UI" pitchFamily="34" charset="0"/>
              </a:defRPr>
            </a:lvl3pPr>
            <a:lvl4pPr>
              <a:defRPr>
                <a:latin typeface="Segoe UI" pitchFamily="34" charset="0"/>
                <a:ea typeface="Segoe UI" pitchFamily="34" charset="0"/>
                <a:cs typeface="Segoe UI" pitchFamily="34" charset="0"/>
              </a:defRPr>
            </a:lvl4pPr>
            <a:lvl5pPr>
              <a:defRPr>
                <a:latin typeface="Segoe UI" pitchFamily="34" charset="0"/>
                <a:ea typeface="Segoe UI" pitchFamily="34" charset="0"/>
                <a:cs typeface="Segoe UI"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9781924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457200" y="6324600"/>
            <a:ext cx="2895600" cy="365125"/>
          </a:xfrm>
        </p:spPr>
        <p:txBody>
          <a:bodyPr/>
          <a:lstStyle>
            <a:lvl1pPr algn="l">
              <a:defRPr/>
            </a:lvl1pPr>
          </a:lstStyle>
          <a:p>
            <a:endParaRPr lang="en-US" dirty="0"/>
          </a:p>
        </p:txBody>
      </p:sp>
      <p:sp>
        <p:nvSpPr>
          <p:cNvPr id="4" name="Slide Number Placeholder 3"/>
          <p:cNvSpPr>
            <a:spLocks noGrp="1"/>
          </p:cNvSpPr>
          <p:nvPr>
            <p:ph type="sldNum" sz="quarter" idx="12"/>
          </p:nvPr>
        </p:nvSpPr>
        <p:spPr/>
        <p:txBody>
          <a:bodyPr/>
          <a:lstStyle>
            <a:lvl1pPr>
              <a:defRPr>
                <a:latin typeface="Segoe UI" pitchFamily="34" charset="0"/>
                <a:ea typeface="Segoe UI" pitchFamily="34" charset="0"/>
                <a:cs typeface="Segoe UI" pitchFamily="34" charset="0"/>
              </a:defRPr>
            </a:lvl1pPr>
          </a:lstStyle>
          <a:p>
            <a:fld id="{D814DA60-3BEE-4BCE-BEDB-E433FD970963}" type="slidenum">
              <a:rPr lang="en-US" smtClean="0"/>
              <a:pPr/>
              <a:t>‹#›</a:t>
            </a:fld>
            <a:endParaRPr lang="en-US" dirty="0"/>
          </a:p>
        </p:txBody>
      </p:sp>
      <p:sp>
        <p:nvSpPr>
          <p:cNvPr id="5" name="Rectangle 4"/>
          <p:cNvSpPr/>
          <p:nvPr userDrawn="1"/>
        </p:nvSpPr>
        <p:spPr>
          <a:xfrm>
            <a:off x="0" y="0"/>
            <a:ext cx="9144000" cy="82296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title" hasCustomPrompt="1"/>
          </p:nvPr>
        </p:nvSpPr>
        <p:spPr>
          <a:xfrm>
            <a:off x="457200" y="0"/>
            <a:ext cx="8229600" cy="822960"/>
          </a:xfrm>
        </p:spPr>
        <p:txBody>
          <a:bodyPr>
            <a:noAutofit/>
          </a:bodyPr>
          <a:lstStyle>
            <a:lvl1pPr algn="l">
              <a:defRPr sz="3200" baseline="0">
                <a:solidFill>
                  <a:schemeClr val="bg1"/>
                </a:solidFill>
                <a:latin typeface="Segoe UI" pitchFamily="34" charset="0"/>
                <a:ea typeface="Segoe UI" pitchFamily="34" charset="0"/>
                <a:cs typeface="Segoe UI" pitchFamily="34" charset="0"/>
              </a:defRPr>
            </a:lvl1pPr>
          </a:lstStyle>
          <a:p>
            <a:r>
              <a:rPr lang="en-US" dirty="0"/>
              <a:t>32pt Slide Title</a:t>
            </a:r>
          </a:p>
        </p:txBody>
      </p:sp>
    </p:spTree>
    <p:extLst>
      <p:ext uri="{BB962C8B-B14F-4D97-AF65-F5344CB8AC3E}">
        <p14:creationId xmlns:p14="http://schemas.microsoft.com/office/powerpoint/2010/main" val="414811229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C69B7DB-8367-4EA5-BD31-DC3A1C807884}" type="datetimeFigureOut">
              <a:rPr lang="en-US" smtClean="0"/>
              <a:t>11/11/2023</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Segoe UI" pitchFamily="34" charset="0"/>
                <a:ea typeface="Segoe UI" pitchFamily="34" charset="0"/>
                <a:cs typeface="Segoe UI" pitchFamily="34" charset="0"/>
              </a:defRPr>
            </a:lvl1pPr>
          </a:lstStyle>
          <a:p>
            <a:fld id="{D814DA60-3BEE-4BCE-BEDB-E433FD970963}" type="slidenum">
              <a:rPr lang="en-US" smtClean="0"/>
              <a:pPr/>
              <a:t>‹#›</a:t>
            </a:fld>
            <a:endParaRPr lang="en-US" dirty="0"/>
          </a:p>
        </p:txBody>
      </p:sp>
    </p:spTree>
    <p:extLst>
      <p:ext uri="{BB962C8B-B14F-4D97-AF65-F5344CB8AC3E}">
        <p14:creationId xmlns:p14="http://schemas.microsoft.com/office/powerpoint/2010/main" val="3754704928"/>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0" r:id="rId4"/>
    <p:sldLayoutId id="2147483661" r:id="rId5"/>
    <p:sldLayoutId id="2147483655" r:id="rId6"/>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4.xml"/><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a:xfrm>
            <a:off x="3352800" y="3048000"/>
            <a:ext cx="5638800" cy="1143000"/>
          </a:xfrm>
        </p:spPr>
        <p:txBody>
          <a:bodyPr/>
          <a:lstStyle/>
          <a:p>
            <a:pPr algn="ctr"/>
            <a:r>
              <a:rPr lang="en-US" sz="4400" b="1" i="0" dirty="0">
                <a:effectLst/>
                <a:latin typeface="Söhne"/>
              </a:rPr>
              <a:t>Troubleshoot Network Connectivity</a:t>
            </a:r>
          </a:p>
        </p:txBody>
      </p:sp>
    </p:spTree>
    <p:extLst>
      <p:ext uri="{BB962C8B-B14F-4D97-AF65-F5344CB8AC3E}">
        <p14:creationId xmlns:p14="http://schemas.microsoft.com/office/powerpoint/2010/main" val="42073216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0" dirty="0">
                <a:effectLst/>
                <a:latin typeface="Spectral"/>
              </a:rPr>
              <a:t>Lessons</a:t>
            </a:r>
            <a:endParaRPr lang="en-US"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69947" y="5867400"/>
            <a:ext cx="2193219" cy="806762"/>
          </a:xfrm>
          <a:prstGeom prst="rect">
            <a:avLst/>
          </a:prstGeom>
        </p:spPr>
      </p:pic>
      <p:sp>
        <p:nvSpPr>
          <p:cNvPr id="4" name="TextBox 3">
            <a:extLst>
              <a:ext uri="{FF2B5EF4-FFF2-40B4-BE49-F238E27FC236}">
                <a16:creationId xmlns:a16="http://schemas.microsoft.com/office/drawing/2014/main" id="{D6FC062C-25BF-3922-4AEE-8DEC8E966A30}"/>
              </a:ext>
            </a:extLst>
          </p:cNvPr>
          <p:cNvSpPr txBox="1"/>
          <p:nvPr/>
        </p:nvSpPr>
        <p:spPr>
          <a:xfrm>
            <a:off x="457200" y="1083022"/>
            <a:ext cx="8763000" cy="1569660"/>
          </a:xfrm>
          <a:prstGeom prst="rect">
            <a:avLst/>
          </a:prstGeom>
          <a:noFill/>
        </p:spPr>
        <p:txBody>
          <a:bodyPr wrap="square" rtlCol="0">
            <a:spAutoFit/>
          </a:bodyPr>
          <a:lstStyle/>
          <a:p>
            <a:pPr algn="l">
              <a:buFont typeface="Arial" panose="020B0604020202020204" pitchFamily="34" charset="0"/>
              <a:buChar char="•"/>
            </a:pPr>
            <a:r>
              <a:rPr lang="en-US" sz="3200" b="0" i="0" dirty="0">
                <a:solidFill>
                  <a:srgbClr val="343541"/>
                </a:solidFill>
                <a:effectLst/>
                <a:latin typeface="Söhne"/>
              </a:rPr>
              <a:t>Troubleshoot a network connectivity issue</a:t>
            </a:r>
          </a:p>
          <a:p>
            <a:pPr algn="l">
              <a:buFont typeface="Arial" panose="020B0604020202020204" pitchFamily="34" charset="0"/>
              <a:buChar char="•"/>
            </a:pPr>
            <a:r>
              <a:rPr lang="en-US" sz="3200" b="0" i="0" dirty="0">
                <a:solidFill>
                  <a:srgbClr val="343541"/>
                </a:solidFill>
                <a:effectLst/>
                <a:latin typeface="Söhne"/>
              </a:rPr>
              <a:t>Troubleshoot name resolution </a:t>
            </a:r>
          </a:p>
          <a:p>
            <a:pPr algn="l">
              <a:buFont typeface="Arial" panose="020B0604020202020204" pitchFamily="34" charset="0"/>
              <a:buChar char="•"/>
            </a:pPr>
            <a:r>
              <a:rPr lang="en-US" sz="3200" b="0" i="0" dirty="0">
                <a:solidFill>
                  <a:srgbClr val="343541"/>
                </a:solidFill>
                <a:effectLst/>
                <a:latin typeface="Söhne"/>
              </a:rPr>
              <a:t>Troubleshoot remote access</a:t>
            </a:r>
            <a:endParaRPr lang="en-US" sz="3200" b="0" i="0" dirty="0">
              <a:solidFill>
                <a:srgbClr val="141C36"/>
              </a:solidFill>
              <a:effectLst/>
              <a:latin typeface="Spectral"/>
            </a:endParaRPr>
          </a:p>
        </p:txBody>
      </p:sp>
    </p:spTree>
    <p:extLst>
      <p:ext uri="{BB962C8B-B14F-4D97-AF65-F5344CB8AC3E}">
        <p14:creationId xmlns:p14="http://schemas.microsoft.com/office/powerpoint/2010/main" val="30361478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i="0" dirty="0">
                <a:effectLst/>
                <a:latin typeface="Söhne"/>
              </a:rPr>
              <a:t>Troubleshoot Network Connectivity</a:t>
            </a:r>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69947" y="5867400"/>
            <a:ext cx="2193219" cy="806762"/>
          </a:xfrm>
          <a:prstGeom prst="rect">
            <a:avLst/>
          </a:prstGeom>
        </p:spPr>
      </p:pic>
      <p:sp>
        <p:nvSpPr>
          <p:cNvPr id="5" name="TextBox 4">
            <a:extLst>
              <a:ext uri="{FF2B5EF4-FFF2-40B4-BE49-F238E27FC236}">
                <a16:creationId xmlns:a16="http://schemas.microsoft.com/office/drawing/2014/main" id="{84049121-050D-1239-3525-E3C43107DF11}"/>
              </a:ext>
            </a:extLst>
          </p:cNvPr>
          <p:cNvSpPr txBox="1"/>
          <p:nvPr/>
        </p:nvSpPr>
        <p:spPr>
          <a:xfrm>
            <a:off x="152400" y="847997"/>
            <a:ext cx="8839200" cy="1569660"/>
          </a:xfrm>
          <a:prstGeom prst="rect">
            <a:avLst/>
          </a:prstGeom>
          <a:noFill/>
        </p:spPr>
        <p:txBody>
          <a:bodyPr wrap="square">
            <a:spAutoFit/>
          </a:bodyPr>
          <a:lstStyle/>
          <a:p>
            <a:r>
              <a:rPr lang="en-US" sz="2400" b="0" i="0" dirty="0">
                <a:solidFill>
                  <a:srgbClr val="374151"/>
                </a:solidFill>
                <a:effectLst/>
                <a:latin typeface="Söhne"/>
              </a:rPr>
              <a:t>Troubleshooting network connectivity issues on Windows 11 involves identifying and resolving problems that may arise in different aspects of the network like  troubleshoot network connectivity, name resolution, and remote access issues</a:t>
            </a:r>
            <a:endParaRPr lang="en-US" sz="2400" b="1" dirty="0">
              <a:latin typeface="Calibri" panose="020F0502020204030204" pitchFamily="34" charset="0"/>
              <a:ea typeface="Calibri" panose="020F0502020204030204" pitchFamily="34" charset="0"/>
              <a:cs typeface="Calibri" panose="020F0502020204030204" pitchFamily="34" charset="0"/>
            </a:endParaRPr>
          </a:p>
        </p:txBody>
      </p:sp>
      <p:pic>
        <p:nvPicPr>
          <p:cNvPr id="10" name="Picture 9">
            <a:extLst>
              <a:ext uri="{FF2B5EF4-FFF2-40B4-BE49-F238E27FC236}">
                <a16:creationId xmlns:a16="http://schemas.microsoft.com/office/drawing/2014/main" id="{79832C4C-5433-8989-246F-6A4A12AB651E}"/>
              </a:ext>
            </a:extLst>
          </p:cNvPr>
          <p:cNvPicPr>
            <a:picLocks noChangeAspect="1"/>
          </p:cNvPicPr>
          <p:nvPr/>
        </p:nvPicPr>
        <p:blipFill>
          <a:blip r:embed="rId4"/>
          <a:stretch>
            <a:fillRect/>
          </a:stretch>
        </p:blipFill>
        <p:spPr>
          <a:xfrm>
            <a:off x="0" y="2560260"/>
            <a:ext cx="9144000" cy="4297740"/>
          </a:xfrm>
          <a:prstGeom prst="rect">
            <a:avLst/>
          </a:prstGeom>
        </p:spPr>
      </p:pic>
    </p:spTree>
    <p:extLst>
      <p:ext uri="{BB962C8B-B14F-4D97-AF65-F5344CB8AC3E}">
        <p14:creationId xmlns:p14="http://schemas.microsoft.com/office/powerpoint/2010/main" val="33946041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916DCB5-ADFB-1B63-2935-E36549285124}"/>
              </a:ext>
            </a:extLst>
          </p:cNvPr>
          <p:cNvSpPr txBox="1"/>
          <p:nvPr/>
        </p:nvSpPr>
        <p:spPr>
          <a:xfrm>
            <a:off x="304800" y="76200"/>
            <a:ext cx="7315200" cy="584775"/>
          </a:xfrm>
          <a:prstGeom prst="rect">
            <a:avLst/>
          </a:prstGeom>
          <a:noFill/>
        </p:spPr>
        <p:txBody>
          <a:bodyPr wrap="square">
            <a:spAutoFit/>
          </a:bodyPr>
          <a:lstStyle/>
          <a:p>
            <a:pPr algn="l"/>
            <a:r>
              <a:rPr lang="en-US" sz="3200" b="1" i="0" dirty="0">
                <a:solidFill>
                  <a:schemeClr val="bg1"/>
                </a:solidFill>
                <a:effectLst/>
                <a:latin typeface="Söhne"/>
              </a:rPr>
              <a:t>Check Physical Connections:</a:t>
            </a:r>
            <a:endParaRPr lang="en-US" sz="3200" b="0" i="0" dirty="0">
              <a:solidFill>
                <a:schemeClr val="bg1"/>
              </a:solidFill>
              <a:effectLst/>
              <a:latin typeface="Söhne"/>
            </a:endParaRPr>
          </a:p>
        </p:txBody>
      </p:sp>
      <p:sp>
        <p:nvSpPr>
          <p:cNvPr id="5" name="TextBox 4">
            <a:extLst>
              <a:ext uri="{FF2B5EF4-FFF2-40B4-BE49-F238E27FC236}">
                <a16:creationId xmlns:a16="http://schemas.microsoft.com/office/drawing/2014/main" id="{93AAFD4C-45A2-5D72-861D-A9B4823A6C91}"/>
              </a:ext>
            </a:extLst>
          </p:cNvPr>
          <p:cNvSpPr txBox="1"/>
          <p:nvPr/>
        </p:nvSpPr>
        <p:spPr>
          <a:xfrm>
            <a:off x="457200" y="1143000"/>
            <a:ext cx="8458200" cy="1384995"/>
          </a:xfrm>
          <a:prstGeom prst="rect">
            <a:avLst/>
          </a:prstGeom>
          <a:noFill/>
        </p:spPr>
        <p:txBody>
          <a:bodyPr wrap="square">
            <a:spAutoFit/>
          </a:bodyPr>
          <a:lstStyle/>
          <a:p>
            <a:pPr algn="l">
              <a:buFont typeface="Arial" panose="020B0604020202020204" pitchFamily="34" charset="0"/>
              <a:buChar char="•"/>
            </a:pPr>
            <a:r>
              <a:rPr lang="en-US" sz="2800" b="0" i="0" dirty="0">
                <a:solidFill>
                  <a:srgbClr val="374151"/>
                </a:solidFill>
                <a:effectLst/>
                <a:latin typeface="Söhne"/>
              </a:rPr>
              <a:t>Ensure that cables are securely connected.</a:t>
            </a:r>
          </a:p>
          <a:p>
            <a:pPr algn="l">
              <a:buFont typeface="Arial" panose="020B0604020202020204" pitchFamily="34" charset="0"/>
              <a:buChar char="•"/>
            </a:pPr>
            <a:r>
              <a:rPr lang="en-US" sz="2800" b="0" i="0" dirty="0">
                <a:solidFill>
                  <a:srgbClr val="374151"/>
                </a:solidFill>
                <a:effectLst/>
                <a:latin typeface="Söhne"/>
              </a:rPr>
              <a:t>If using Wi-Fi, make sure the wireless adapter is enabled and connected to the correct network.</a:t>
            </a:r>
          </a:p>
        </p:txBody>
      </p:sp>
      <p:pic>
        <p:nvPicPr>
          <p:cNvPr id="7" name="Picture 2" descr="What does an Ethernet port look like on a laptop? - Quora">
            <a:extLst>
              <a:ext uri="{FF2B5EF4-FFF2-40B4-BE49-F238E27FC236}">
                <a16:creationId xmlns:a16="http://schemas.microsoft.com/office/drawing/2014/main" id="{24107E2C-304D-886F-2592-F5BB8D97CE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779833"/>
            <a:ext cx="3886201" cy="2917878"/>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descr="Troubleshooting Wi-Fi connection on your Surface - Microsoft Support">
            <a:extLst>
              <a:ext uri="{FF2B5EF4-FFF2-40B4-BE49-F238E27FC236}">
                <a16:creationId xmlns:a16="http://schemas.microsoft.com/office/drawing/2014/main" id="{B234F67E-6921-43EB-095D-0643D41E11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3400" y="2779833"/>
            <a:ext cx="4761692" cy="28589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67868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a:t>Verify IP Configuration</a:t>
            </a:r>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69947" y="5867400"/>
            <a:ext cx="2193219" cy="806762"/>
          </a:xfrm>
          <a:prstGeom prst="rect">
            <a:avLst/>
          </a:prstGeom>
        </p:spPr>
      </p:pic>
      <p:sp>
        <p:nvSpPr>
          <p:cNvPr id="13" name="Rectangle 5">
            <a:extLst>
              <a:ext uri="{FF2B5EF4-FFF2-40B4-BE49-F238E27FC236}">
                <a16:creationId xmlns:a16="http://schemas.microsoft.com/office/drawing/2014/main" id="{9FC84E1D-A322-18FD-358A-1D30E359BEC1}"/>
              </a:ext>
            </a:extLst>
          </p:cNvPr>
          <p:cNvSpPr>
            <a:spLocks noChangeArrowheads="1"/>
          </p:cNvSpPr>
          <p:nvPr/>
        </p:nvSpPr>
        <p:spPr bwMode="auto">
          <a:xfrm>
            <a:off x="152400" y="1263134"/>
            <a:ext cx="184731" cy="369332"/>
          </a:xfrm>
          <a:prstGeom prst="rect">
            <a:avLst/>
          </a:prstGeom>
          <a:solidFill>
            <a:srgbClr val="F7F7F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9" name="TextBox 18">
            <a:extLst>
              <a:ext uri="{FF2B5EF4-FFF2-40B4-BE49-F238E27FC236}">
                <a16:creationId xmlns:a16="http://schemas.microsoft.com/office/drawing/2014/main" id="{C3DFC09C-D32E-2C7D-52F5-0B4358A55CB9}"/>
              </a:ext>
            </a:extLst>
          </p:cNvPr>
          <p:cNvSpPr txBox="1"/>
          <p:nvPr/>
        </p:nvSpPr>
        <p:spPr>
          <a:xfrm>
            <a:off x="468086" y="790303"/>
            <a:ext cx="7968343" cy="1477328"/>
          </a:xfrm>
          <a:prstGeom prst="rect">
            <a:avLst/>
          </a:prstGeom>
          <a:noFill/>
        </p:spPr>
        <p:txBody>
          <a:bodyPr wrap="square">
            <a:spAutoFit/>
          </a:bodyPr>
          <a:lstStyle/>
          <a:p>
            <a:endParaRPr lang="en-US" dirty="0"/>
          </a:p>
          <a:p>
            <a:r>
              <a:rPr lang="en-US" sz="2400" dirty="0">
                <a:latin typeface="Calibri" panose="020F0502020204030204" pitchFamily="34" charset="0"/>
                <a:ea typeface="Calibri" panose="020F0502020204030204" pitchFamily="34" charset="0"/>
                <a:cs typeface="Calibri" panose="020F0502020204030204" pitchFamily="34" charset="0"/>
              </a:rPr>
              <a:t>Open Command Prompt and type </a:t>
            </a:r>
            <a:r>
              <a:rPr lang="en-US" sz="2400" b="1" dirty="0">
                <a:latin typeface="Calibri" panose="020F0502020204030204" pitchFamily="34" charset="0"/>
                <a:ea typeface="Calibri" panose="020F0502020204030204" pitchFamily="34" charset="0"/>
                <a:cs typeface="Calibri" panose="020F0502020204030204" pitchFamily="34" charset="0"/>
              </a:rPr>
              <a:t>ipconfig /all </a:t>
            </a:r>
            <a:r>
              <a:rPr lang="en-US" sz="2400" dirty="0">
                <a:latin typeface="Calibri" panose="020F0502020204030204" pitchFamily="34" charset="0"/>
                <a:ea typeface="Calibri" panose="020F0502020204030204" pitchFamily="34" charset="0"/>
                <a:cs typeface="Calibri" panose="020F0502020204030204" pitchFamily="34" charset="0"/>
              </a:rPr>
              <a:t>to check if the IP address, subnet mask, gateway, and DNS servers are correctly configured</a:t>
            </a:r>
            <a:r>
              <a:rPr lang="en-US" dirty="0"/>
              <a:t>.</a:t>
            </a:r>
          </a:p>
        </p:txBody>
      </p:sp>
      <p:pic>
        <p:nvPicPr>
          <p:cNvPr id="21" name="Picture 20">
            <a:extLst>
              <a:ext uri="{FF2B5EF4-FFF2-40B4-BE49-F238E27FC236}">
                <a16:creationId xmlns:a16="http://schemas.microsoft.com/office/drawing/2014/main" id="{DF45CD8D-CF3F-08D6-9525-F11C452AF1E0}"/>
              </a:ext>
            </a:extLst>
          </p:cNvPr>
          <p:cNvPicPr>
            <a:picLocks noChangeAspect="1"/>
          </p:cNvPicPr>
          <p:nvPr/>
        </p:nvPicPr>
        <p:blipFill>
          <a:blip r:embed="rId4"/>
          <a:stretch>
            <a:fillRect/>
          </a:stretch>
        </p:blipFill>
        <p:spPr>
          <a:xfrm>
            <a:off x="457200" y="2267631"/>
            <a:ext cx="8534400" cy="4319882"/>
          </a:xfrm>
          <a:prstGeom prst="rect">
            <a:avLst/>
          </a:prstGeom>
        </p:spPr>
      </p:pic>
    </p:spTree>
    <p:extLst>
      <p:ext uri="{BB962C8B-B14F-4D97-AF65-F5344CB8AC3E}">
        <p14:creationId xmlns:p14="http://schemas.microsoft.com/office/powerpoint/2010/main" val="34310719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94724"/>
            <a:ext cx="8229600" cy="822960"/>
          </a:xfrm>
        </p:spPr>
        <p:txBody>
          <a:bodyPr/>
          <a:lstStyle/>
          <a:p>
            <a:r>
              <a:rPr lang="en-US" b="1" dirty="0"/>
              <a:t>Ping Test</a:t>
            </a:r>
            <a:br>
              <a:rPr lang="en-US" dirty="0"/>
            </a:br>
            <a:endParaRPr lang="en-US" b="0" i="0" dirty="0">
              <a:effectLst/>
              <a:latin typeface="Söhne"/>
            </a:endParaRPr>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69947" y="5867400"/>
            <a:ext cx="2193219" cy="806762"/>
          </a:xfrm>
          <a:prstGeom prst="rect">
            <a:avLst/>
          </a:prstGeom>
        </p:spPr>
      </p:pic>
      <p:sp>
        <p:nvSpPr>
          <p:cNvPr id="12" name="TextBox 11">
            <a:extLst>
              <a:ext uri="{FF2B5EF4-FFF2-40B4-BE49-F238E27FC236}">
                <a16:creationId xmlns:a16="http://schemas.microsoft.com/office/drawing/2014/main" id="{B451E4E3-0C53-A566-1182-93876E711538}"/>
              </a:ext>
            </a:extLst>
          </p:cNvPr>
          <p:cNvSpPr txBox="1"/>
          <p:nvPr/>
        </p:nvSpPr>
        <p:spPr>
          <a:xfrm>
            <a:off x="228600" y="762000"/>
            <a:ext cx="8686800" cy="1200329"/>
          </a:xfrm>
          <a:prstGeom prst="rect">
            <a:avLst/>
          </a:prstGeom>
          <a:noFill/>
        </p:spPr>
        <p:txBody>
          <a:bodyPr wrap="square">
            <a:spAutoFit/>
          </a:bodyPr>
          <a:lstStyle/>
          <a:p>
            <a:endParaRPr lang="en-US" sz="2400" dirty="0"/>
          </a:p>
          <a:p>
            <a:r>
              <a:rPr lang="en-US" sz="2400" dirty="0"/>
              <a:t>Use the </a:t>
            </a:r>
            <a:r>
              <a:rPr lang="en-US" sz="2400" b="1" dirty="0"/>
              <a:t>ping</a:t>
            </a:r>
            <a:r>
              <a:rPr lang="en-US" sz="2400" dirty="0"/>
              <a:t> command to test connectivity to other devices on the network or the internet.</a:t>
            </a:r>
          </a:p>
        </p:txBody>
      </p:sp>
      <p:pic>
        <p:nvPicPr>
          <p:cNvPr id="14" name="Picture 13">
            <a:extLst>
              <a:ext uri="{FF2B5EF4-FFF2-40B4-BE49-F238E27FC236}">
                <a16:creationId xmlns:a16="http://schemas.microsoft.com/office/drawing/2014/main" id="{6627D30F-896B-FAF6-BEF6-3B439D6781FB}"/>
              </a:ext>
            </a:extLst>
          </p:cNvPr>
          <p:cNvPicPr>
            <a:picLocks noChangeAspect="1"/>
          </p:cNvPicPr>
          <p:nvPr/>
        </p:nvPicPr>
        <p:blipFill>
          <a:blip r:embed="rId4"/>
          <a:stretch>
            <a:fillRect/>
          </a:stretch>
        </p:blipFill>
        <p:spPr>
          <a:xfrm>
            <a:off x="261257" y="2286000"/>
            <a:ext cx="8801251" cy="2476543"/>
          </a:xfrm>
          <a:prstGeom prst="rect">
            <a:avLst/>
          </a:prstGeom>
        </p:spPr>
      </p:pic>
    </p:spTree>
    <p:extLst>
      <p:ext uri="{BB962C8B-B14F-4D97-AF65-F5344CB8AC3E}">
        <p14:creationId xmlns:p14="http://schemas.microsoft.com/office/powerpoint/2010/main" val="5889765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229600" cy="822960"/>
          </a:xfrm>
        </p:spPr>
        <p:txBody>
          <a:bodyPr/>
          <a:lstStyle/>
          <a:p>
            <a:r>
              <a:rPr lang="en-US" b="1" i="0" dirty="0">
                <a:effectLst/>
                <a:latin typeface="Söhne"/>
              </a:rPr>
              <a:t>Firewall and Antivirus</a:t>
            </a:r>
            <a:endParaRPr lang="en-US" sz="4400"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69947" y="5867400"/>
            <a:ext cx="2193219" cy="806762"/>
          </a:xfrm>
          <a:prstGeom prst="rect">
            <a:avLst/>
          </a:prstGeom>
        </p:spPr>
      </p:pic>
      <p:sp>
        <p:nvSpPr>
          <p:cNvPr id="6" name="TextBox 5">
            <a:extLst>
              <a:ext uri="{FF2B5EF4-FFF2-40B4-BE49-F238E27FC236}">
                <a16:creationId xmlns:a16="http://schemas.microsoft.com/office/drawing/2014/main" id="{30E664DA-A3F3-FEF9-2E6A-F9F7DE766E6D}"/>
              </a:ext>
            </a:extLst>
          </p:cNvPr>
          <p:cNvSpPr txBox="1"/>
          <p:nvPr/>
        </p:nvSpPr>
        <p:spPr>
          <a:xfrm>
            <a:off x="152400" y="833846"/>
            <a:ext cx="8763000" cy="954107"/>
          </a:xfrm>
          <a:prstGeom prst="rect">
            <a:avLst/>
          </a:prstGeom>
          <a:noFill/>
        </p:spPr>
        <p:txBody>
          <a:bodyPr wrap="square">
            <a:spAutoFit/>
          </a:bodyPr>
          <a:lstStyle/>
          <a:p>
            <a:pPr lvl="1" algn="l"/>
            <a:r>
              <a:rPr lang="en-US" sz="2800" b="1" i="0" dirty="0">
                <a:solidFill>
                  <a:srgbClr val="374151"/>
                </a:solidFill>
                <a:effectLst/>
                <a:latin typeface="Söhne"/>
              </a:rPr>
              <a:t>Temporarily disable the firewall or antivirus software to check if they are blocking the network connection.</a:t>
            </a:r>
            <a:endParaRPr lang="en-US" sz="2800" b="1" dirty="0"/>
          </a:p>
        </p:txBody>
      </p:sp>
      <p:pic>
        <p:nvPicPr>
          <p:cNvPr id="7" name="Picture 6">
            <a:extLst>
              <a:ext uri="{FF2B5EF4-FFF2-40B4-BE49-F238E27FC236}">
                <a16:creationId xmlns:a16="http://schemas.microsoft.com/office/drawing/2014/main" id="{F7F20CC0-E098-5456-38F2-49C96E4C9470}"/>
              </a:ext>
            </a:extLst>
          </p:cNvPr>
          <p:cNvPicPr>
            <a:picLocks noChangeAspect="1"/>
          </p:cNvPicPr>
          <p:nvPr/>
        </p:nvPicPr>
        <p:blipFill>
          <a:blip r:embed="rId4"/>
          <a:stretch>
            <a:fillRect/>
          </a:stretch>
        </p:blipFill>
        <p:spPr>
          <a:xfrm>
            <a:off x="1953585" y="1934825"/>
            <a:ext cx="5791200" cy="4100215"/>
          </a:xfrm>
          <a:prstGeom prst="rect">
            <a:avLst/>
          </a:prstGeom>
        </p:spPr>
      </p:pic>
    </p:spTree>
    <p:extLst>
      <p:ext uri="{BB962C8B-B14F-4D97-AF65-F5344CB8AC3E}">
        <p14:creationId xmlns:p14="http://schemas.microsoft.com/office/powerpoint/2010/main" val="30627236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83838"/>
            <a:ext cx="8229600" cy="822960"/>
          </a:xfrm>
        </p:spPr>
        <p:txBody>
          <a:bodyPr/>
          <a:lstStyle/>
          <a:p>
            <a:r>
              <a:rPr lang="en-US" sz="3600" b="1" dirty="0">
                <a:latin typeface="Calibri" panose="020F0502020204030204" pitchFamily="34" charset="0"/>
                <a:ea typeface="Calibri" panose="020F0502020204030204" pitchFamily="34" charset="0"/>
                <a:cs typeface="Arial" panose="020B0604020202020204" pitchFamily="34" charset="0"/>
              </a:rPr>
              <a:t>Device Manager</a:t>
            </a:r>
            <a:br>
              <a:rPr lang="en-US" sz="3600" b="1" dirty="0">
                <a:latin typeface="Calibri" panose="020F0502020204030204" pitchFamily="34" charset="0"/>
                <a:ea typeface="Calibri" panose="020F0502020204030204" pitchFamily="34" charset="0"/>
                <a:cs typeface="Arial" panose="020B0604020202020204" pitchFamily="34" charset="0"/>
              </a:rPr>
            </a:br>
            <a:endParaRPr lang="en-US" sz="3600" b="1" dirty="0">
              <a:latin typeface="Calibri" panose="020F0502020204030204" pitchFamily="34" charset="0"/>
              <a:ea typeface="Calibri" panose="020F0502020204030204" pitchFamily="34" charset="0"/>
              <a:cs typeface="Arial" panose="020B0604020202020204" pitchFamily="34" charset="0"/>
            </a:endParaRPr>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69947" y="5867400"/>
            <a:ext cx="2193219" cy="806762"/>
          </a:xfrm>
          <a:prstGeom prst="rect">
            <a:avLst/>
          </a:prstGeom>
        </p:spPr>
      </p:pic>
      <p:sp>
        <p:nvSpPr>
          <p:cNvPr id="8" name="TextBox 7">
            <a:extLst>
              <a:ext uri="{FF2B5EF4-FFF2-40B4-BE49-F238E27FC236}">
                <a16:creationId xmlns:a16="http://schemas.microsoft.com/office/drawing/2014/main" id="{666A1593-A962-205D-08F6-45C8962AE6D0}"/>
              </a:ext>
            </a:extLst>
          </p:cNvPr>
          <p:cNvSpPr txBox="1"/>
          <p:nvPr/>
        </p:nvSpPr>
        <p:spPr>
          <a:xfrm>
            <a:off x="457200" y="946796"/>
            <a:ext cx="8229600" cy="954107"/>
          </a:xfrm>
          <a:prstGeom prst="rect">
            <a:avLst/>
          </a:prstGeom>
          <a:noFill/>
        </p:spPr>
        <p:txBody>
          <a:bodyPr wrap="square">
            <a:spAutoFit/>
          </a:bodyPr>
          <a:lstStyle/>
          <a:p>
            <a:pPr algn="l"/>
            <a:r>
              <a:rPr lang="en-US" sz="2800" b="0" i="0" dirty="0">
                <a:solidFill>
                  <a:srgbClr val="374151"/>
                </a:solidFill>
                <a:effectLst/>
                <a:latin typeface="Söhne"/>
              </a:rPr>
              <a:t>Check Device Manager for any issues with network adapters. Update or reinstall drivers if necessary.</a:t>
            </a:r>
          </a:p>
        </p:txBody>
      </p:sp>
      <p:pic>
        <p:nvPicPr>
          <p:cNvPr id="10" name="Picture 9">
            <a:extLst>
              <a:ext uri="{FF2B5EF4-FFF2-40B4-BE49-F238E27FC236}">
                <a16:creationId xmlns:a16="http://schemas.microsoft.com/office/drawing/2014/main" id="{D0B22AF1-503A-9C5E-9EB9-34C4A363C962}"/>
              </a:ext>
            </a:extLst>
          </p:cNvPr>
          <p:cNvPicPr>
            <a:picLocks noChangeAspect="1"/>
          </p:cNvPicPr>
          <p:nvPr/>
        </p:nvPicPr>
        <p:blipFill>
          <a:blip r:embed="rId4"/>
          <a:stretch>
            <a:fillRect/>
          </a:stretch>
        </p:blipFill>
        <p:spPr>
          <a:xfrm>
            <a:off x="1066800" y="1900903"/>
            <a:ext cx="5257800" cy="4716403"/>
          </a:xfrm>
          <a:prstGeom prst="rect">
            <a:avLst/>
          </a:prstGeom>
        </p:spPr>
      </p:pic>
    </p:spTree>
    <p:extLst>
      <p:ext uri="{BB962C8B-B14F-4D97-AF65-F5344CB8AC3E}">
        <p14:creationId xmlns:p14="http://schemas.microsoft.com/office/powerpoint/2010/main" val="6761195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i="0" dirty="0">
                <a:effectLst/>
                <a:latin typeface="Söhne"/>
              </a:rPr>
              <a:t>Troubleshoot Name Resolution:</a:t>
            </a:r>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69947" y="5867400"/>
            <a:ext cx="2193219" cy="806762"/>
          </a:xfrm>
          <a:prstGeom prst="rect">
            <a:avLst/>
          </a:prstGeom>
        </p:spPr>
      </p:pic>
      <p:sp>
        <p:nvSpPr>
          <p:cNvPr id="5" name="TextBox 4">
            <a:extLst>
              <a:ext uri="{FF2B5EF4-FFF2-40B4-BE49-F238E27FC236}">
                <a16:creationId xmlns:a16="http://schemas.microsoft.com/office/drawing/2014/main" id="{84049121-050D-1239-3525-E3C43107DF11}"/>
              </a:ext>
            </a:extLst>
          </p:cNvPr>
          <p:cNvSpPr txBox="1"/>
          <p:nvPr/>
        </p:nvSpPr>
        <p:spPr>
          <a:xfrm>
            <a:off x="152400" y="847997"/>
            <a:ext cx="8839200" cy="1200329"/>
          </a:xfrm>
          <a:prstGeom prst="rect">
            <a:avLst/>
          </a:prstGeom>
          <a:noFill/>
        </p:spPr>
        <p:txBody>
          <a:bodyPr wrap="square">
            <a:spAutoFit/>
          </a:bodyPr>
          <a:lstStyle/>
          <a:p>
            <a:pPr algn="l"/>
            <a:r>
              <a:rPr lang="en-US" sz="2400" b="1" i="0" dirty="0">
                <a:solidFill>
                  <a:srgbClr val="323232"/>
                </a:solidFill>
                <a:effectLst/>
                <a:latin typeface="Arial" panose="020B0604020202020204" pitchFamily="34" charset="0"/>
              </a:rPr>
              <a:t>Network administrators can troubleshoot name resolution using a variety of methods, including ping, </a:t>
            </a:r>
            <a:r>
              <a:rPr lang="en-US" sz="2400" b="1" i="0" dirty="0" err="1">
                <a:solidFill>
                  <a:srgbClr val="323232"/>
                </a:solidFill>
                <a:effectLst/>
                <a:latin typeface="Arial" panose="020B0604020202020204" pitchFamily="34" charset="0"/>
              </a:rPr>
              <a:t>nslookup</a:t>
            </a:r>
            <a:r>
              <a:rPr lang="en-US" sz="2400" b="1" i="0" dirty="0">
                <a:solidFill>
                  <a:srgbClr val="323232"/>
                </a:solidFill>
                <a:effectLst/>
                <a:latin typeface="Arial" panose="020B0604020202020204" pitchFamily="34" charset="0"/>
              </a:rPr>
              <a:t> and PowerShell cmdlets.</a:t>
            </a:r>
          </a:p>
        </p:txBody>
      </p:sp>
      <p:pic>
        <p:nvPicPr>
          <p:cNvPr id="6" name="Picture 5">
            <a:extLst>
              <a:ext uri="{FF2B5EF4-FFF2-40B4-BE49-F238E27FC236}">
                <a16:creationId xmlns:a16="http://schemas.microsoft.com/office/drawing/2014/main" id="{769311F9-F7EC-CA1B-9E21-1E245DE53409}"/>
              </a:ext>
            </a:extLst>
          </p:cNvPr>
          <p:cNvPicPr>
            <a:picLocks noChangeAspect="1"/>
          </p:cNvPicPr>
          <p:nvPr/>
        </p:nvPicPr>
        <p:blipFill>
          <a:blip r:embed="rId4"/>
          <a:stretch>
            <a:fillRect/>
          </a:stretch>
        </p:blipFill>
        <p:spPr>
          <a:xfrm>
            <a:off x="276748" y="2442694"/>
            <a:ext cx="8450599" cy="3424706"/>
          </a:xfrm>
          <a:prstGeom prst="rect">
            <a:avLst/>
          </a:prstGeom>
        </p:spPr>
      </p:pic>
    </p:spTree>
    <p:extLst>
      <p:ext uri="{BB962C8B-B14F-4D97-AF65-F5344CB8AC3E}">
        <p14:creationId xmlns:p14="http://schemas.microsoft.com/office/powerpoint/2010/main" val="34785017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3600" b="1" i="0" dirty="0">
                <a:effectLst/>
                <a:latin typeface="Söhne"/>
              </a:rPr>
              <a:t>DNS Configuration</a:t>
            </a:r>
            <a:endParaRPr lang="en-US" sz="5400" b="0" i="0" dirty="0">
              <a:effectLst/>
              <a:latin typeface="Söhne"/>
            </a:endParaRPr>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69947" y="5867400"/>
            <a:ext cx="2193219" cy="806762"/>
          </a:xfrm>
          <a:prstGeom prst="rect">
            <a:avLst/>
          </a:prstGeom>
        </p:spPr>
      </p:pic>
      <p:sp>
        <p:nvSpPr>
          <p:cNvPr id="6" name="TextBox 5">
            <a:extLst>
              <a:ext uri="{FF2B5EF4-FFF2-40B4-BE49-F238E27FC236}">
                <a16:creationId xmlns:a16="http://schemas.microsoft.com/office/drawing/2014/main" id="{11C3D99F-BFE1-DE95-E703-9C816162777E}"/>
              </a:ext>
            </a:extLst>
          </p:cNvPr>
          <p:cNvSpPr txBox="1"/>
          <p:nvPr/>
        </p:nvSpPr>
        <p:spPr>
          <a:xfrm>
            <a:off x="457200" y="914400"/>
            <a:ext cx="8534400" cy="830997"/>
          </a:xfrm>
          <a:prstGeom prst="rect">
            <a:avLst/>
          </a:prstGeom>
          <a:noFill/>
        </p:spPr>
        <p:txBody>
          <a:bodyPr wrap="square">
            <a:spAutoFit/>
          </a:bodyPr>
          <a:lstStyle/>
          <a:p>
            <a:pPr algn="l"/>
            <a:r>
              <a:rPr lang="en-US" sz="2400" b="0" i="0" dirty="0">
                <a:solidFill>
                  <a:srgbClr val="374151"/>
                </a:solidFill>
                <a:effectLst/>
                <a:latin typeface="Söhne"/>
              </a:rPr>
              <a:t>Verify DNS settings by checking the DNS server addresses in your network adapter settings.</a:t>
            </a:r>
          </a:p>
        </p:txBody>
      </p:sp>
      <p:pic>
        <p:nvPicPr>
          <p:cNvPr id="9" name="Picture 8">
            <a:extLst>
              <a:ext uri="{FF2B5EF4-FFF2-40B4-BE49-F238E27FC236}">
                <a16:creationId xmlns:a16="http://schemas.microsoft.com/office/drawing/2014/main" id="{DE26A2AD-705E-A1D8-0C0F-68B35FB10BBC}"/>
              </a:ext>
            </a:extLst>
          </p:cNvPr>
          <p:cNvPicPr>
            <a:picLocks noChangeAspect="1"/>
          </p:cNvPicPr>
          <p:nvPr/>
        </p:nvPicPr>
        <p:blipFill>
          <a:blip r:embed="rId4"/>
          <a:stretch>
            <a:fillRect/>
          </a:stretch>
        </p:blipFill>
        <p:spPr>
          <a:xfrm>
            <a:off x="0" y="1869494"/>
            <a:ext cx="3810000" cy="4333875"/>
          </a:xfrm>
          <a:prstGeom prst="rect">
            <a:avLst/>
          </a:prstGeom>
        </p:spPr>
      </p:pic>
      <p:pic>
        <p:nvPicPr>
          <p:cNvPr id="12" name="Picture 11">
            <a:extLst>
              <a:ext uri="{FF2B5EF4-FFF2-40B4-BE49-F238E27FC236}">
                <a16:creationId xmlns:a16="http://schemas.microsoft.com/office/drawing/2014/main" id="{66080ACB-5437-4A32-9C1A-B1148E4B73A4}"/>
              </a:ext>
            </a:extLst>
          </p:cNvPr>
          <p:cNvPicPr>
            <a:picLocks noChangeAspect="1"/>
          </p:cNvPicPr>
          <p:nvPr/>
        </p:nvPicPr>
        <p:blipFill>
          <a:blip r:embed="rId5"/>
          <a:stretch>
            <a:fillRect/>
          </a:stretch>
        </p:blipFill>
        <p:spPr>
          <a:xfrm>
            <a:off x="3886200" y="1836837"/>
            <a:ext cx="5257800" cy="4625741"/>
          </a:xfrm>
          <a:prstGeom prst="rect">
            <a:avLst/>
          </a:prstGeom>
        </p:spPr>
      </p:pic>
    </p:spTree>
    <p:extLst>
      <p:ext uri="{BB962C8B-B14F-4D97-AF65-F5344CB8AC3E}">
        <p14:creationId xmlns:p14="http://schemas.microsoft.com/office/powerpoint/2010/main" val="18948997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22960"/>
          </a:xfrm>
        </p:spPr>
        <p:txBody>
          <a:bodyPr/>
          <a:lstStyle/>
          <a:p>
            <a:r>
              <a:rPr lang="en-US" sz="3600" b="1" i="0" dirty="0">
                <a:effectLst/>
                <a:latin typeface="Söhne"/>
              </a:rPr>
              <a:t>Flush DNS Cache</a:t>
            </a:r>
            <a:endParaRPr lang="en-US" sz="4800"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69947" y="5867400"/>
            <a:ext cx="2193219" cy="806762"/>
          </a:xfrm>
          <a:prstGeom prst="rect">
            <a:avLst/>
          </a:prstGeom>
        </p:spPr>
      </p:pic>
      <p:sp>
        <p:nvSpPr>
          <p:cNvPr id="7" name="TextBox 6">
            <a:extLst>
              <a:ext uri="{FF2B5EF4-FFF2-40B4-BE49-F238E27FC236}">
                <a16:creationId xmlns:a16="http://schemas.microsoft.com/office/drawing/2014/main" id="{C07F372A-C440-308A-1CB8-98CB47EDD989}"/>
              </a:ext>
            </a:extLst>
          </p:cNvPr>
          <p:cNvSpPr txBox="1"/>
          <p:nvPr/>
        </p:nvSpPr>
        <p:spPr>
          <a:xfrm>
            <a:off x="457200" y="833846"/>
            <a:ext cx="8229600" cy="707886"/>
          </a:xfrm>
          <a:prstGeom prst="rect">
            <a:avLst/>
          </a:prstGeom>
          <a:noFill/>
        </p:spPr>
        <p:txBody>
          <a:bodyPr wrap="square">
            <a:spAutoFit/>
          </a:bodyPr>
          <a:lstStyle/>
          <a:p>
            <a:r>
              <a:rPr lang="en-US" sz="2000" dirty="0"/>
              <a:t>Open Command Prompt and type </a:t>
            </a:r>
            <a:r>
              <a:rPr lang="en-US" sz="2000" b="1" dirty="0"/>
              <a:t>ipconfig /</a:t>
            </a:r>
            <a:r>
              <a:rPr lang="en-US" sz="2000" b="1" dirty="0" err="1"/>
              <a:t>flushdns</a:t>
            </a:r>
            <a:r>
              <a:rPr lang="en-US" sz="2000" b="1" dirty="0"/>
              <a:t> </a:t>
            </a:r>
            <a:r>
              <a:rPr lang="en-US" sz="2000" dirty="0"/>
              <a:t>to clear the DNS resolver cache</a:t>
            </a:r>
          </a:p>
        </p:txBody>
      </p:sp>
      <p:pic>
        <p:nvPicPr>
          <p:cNvPr id="9" name="Picture 8">
            <a:extLst>
              <a:ext uri="{FF2B5EF4-FFF2-40B4-BE49-F238E27FC236}">
                <a16:creationId xmlns:a16="http://schemas.microsoft.com/office/drawing/2014/main" id="{3C1AF01E-2930-B21D-D46C-3E548013B509}"/>
              </a:ext>
            </a:extLst>
          </p:cNvPr>
          <p:cNvPicPr>
            <a:picLocks noChangeAspect="1"/>
          </p:cNvPicPr>
          <p:nvPr/>
        </p:nvPicPr>
        <p:blipFill>
          <a:blip r:embed="rId4"/>
          <a:stretch>
            <a:fillRect/>
          </a:stretch>
        </p:blipFill>
        <p:spPr>
          <a:xfrm>
            <a:off x="203655" y="1768210"/>
            <a:ext cx="8736689" cy="2369854"/>
          </a:xfrm>
          <a:prstGeom prst="rect">
            <a:avLst/>
          </a:prstGeom>
        </p:spPr>
      </p:pic>
    </p:spTree>
    <p:extLst>
      <p:ext uri="{BB962C8B-B14F-4D97-AF65-F5344CB8AC3E}">
        <p14:creationId xmlns:p14="http://schemas.microsoft.com/office/powerpoint/2010/main" val="2246237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84436"/>
            <a:ext cx="8229600" cy="822960"/>
          </a:xfrm>
        </p:spPr>
        <p:txBody>
          <a:bodyPr/>
          <a:lstStyle/>
          <a:p>
            <a:pPr algn="l"/>
            <a:r>
              <a:rPr lang="en-US" b="1" i="0" dirty="0">
                <a:effectLst/>
                <a:latin typeface="Söhne"/>
              </a:rPr>
              <a:t>Hosts File</a:t>
            </a:r>
            <a:endParaRPr lang="en-US" b="0" i="0" dirty="0">
              <a:effectLst/>
              <a:latin typeface="Söhne"/>
            </a:endParaRPr>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69947" y="5867400"/>
            <a:ext cx="2193219" cy="806762"/>
          </a:xfrm>
          <a:prstGeom prst="rect">
            <a:avLst/>
          </a:prstGeom>
        </p:spPr>
      </p:pic>
      <p:sp>
        <p:nvSpPr>
          <p:cNvPr id="6" name="Rectangle 2">
            <a:extLst>
              <a:ext uri="{FF2B5EF4-FFF2-40B4-BE49-F238E27FC236}">
                <a16:creationId xmlns:a16="http://schemas.microsoft.com/office/drawing/2014/main" id="{2C76575E-53F3-33B7-2C9B-3CBC5426878D}"/>
              </a:ext>
            </a:extLst>
          </p:cNvPr>
          <p:cNvSpPr>
            <a:spLocks noChangeArrowheads="1"/>
          </p:cNvSpPr>
          <p:nvPr/>
        </p:nvSpPr>
        <p:spPr bwMode="auto">
          <a:xfrm>
            <a:off x="381000" y="1306072"/>
            <a:ext cx="65" cy="893067"/>
          </a:xfrm>
          <a:prstGeom prst="rect">
            <a:avLst/>
          </a:prstGeom>
          <a:solidFill>
            <a:srgbClr val="F7F7F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98375" rIns="0" bIns="198375"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
        <p:nvSpPr>
          <p:cNvPr id="11" name="TextBox 10">
            <a:extLst>
              <a:ext uri="{FF2B5EF4-FFF2-40B4-BE49-F238E27FC236}">
                <a16:creationId xmlns:a16="http://schemas.microsoft.com/office/drawing/2014/main" id="{3D457A26-0B7C-54C3-5B31-3D203A325A04}"/>
              </a:ext>
            </a:extLst>
          </p:cNvPr>
          <p:cNvSpPr txBox="1"/>
          <p:nvPr/>
        </p:nvSpPr>
        <p:spPr>
          <a:xfrm>
            <a:off x="391886" y="1066800"/>
            <a:ext cx="8142514" cy="707886"/>
          </a:xfrm>
          <a:prstGeom prst="rect">
            <a:avLst/>
          </a:prstGeom>
          <a:noFill/>
        </p:spPr>
        <p:txBody>
          <a:bodyPr wrap="square">
            <a:spAutoFit/>
          </a:bodyPr>
          <a:lstStyle/>
          <a:p>
            <a:r>
              <a:rPr lang="en-US" sz="2000" dirty="0"/>
              <a:t>Check the hosts file (</a:t>
            </a:r>
            <a:r>
              <a:rPr lang="en-US" sz="2000" b="1" dirty="0"/>
              <a:t>C:\Windows\System32\drivers\</a:t>
            </a:r>
            <a:r>
              <a:rPr lang="en-US" sz="2000" b="1" dirty="0" err="1"/>
              <a:t>etc</a:t>
            </a:r>
            <a:r>
              <a:rPr lang="en-US" sz="2000" b="1" dirty="0"/>
              <a:t>\hosts</a:t>
            </a:r>
            <a:r>
              <a:rPr lang="en-US" sz="2000" dirty="0"/>
              <a:t>) for any incorrect entries </a:t>
            </a:r>
          </a:p>
        </p:txBody>
      </p:sp>
      <p:pic>
        <p:nvPicPr>
          <p:cNvPr id="12" name="Picture 11">
            <a:extLst>
              <a:ext uri="{FF2B5EF4-FFF2-40B4-BE49-F238E27FC236}">
                <a16:creationId xmlns:a16="http://schemas.microsoft.com/office/drawing/2014/main" id="{0A482A73-6D84-8293-2D5A-52015A8A24E9}"/>
              </a:ext>
            </a:extLst>
          </p:cNvPr>
          <p:cNvPicPr>
            <a:picLocks noChangeAspect="1"/>
          </p:cNvPicPr>
          <p:nvPr/>
        </p:nvPicPr>
        <p:blipFill>
          <a:blip r:embed="rId4"/>
          <a:stretch>
            <a:fillRect/>
          </a:stretch>
        </p:blipFill>
        <p:spPr>
          <a:xfrm>
            <a:off x="1681843" y="1785572"/>
            <a:ext cx="7048500" cy="4716943"/>
          </a:xfrm>
          <a:prstGeom prst="rect">
            <a:avLst/>
          </a:prstGeom>
        </p:spPr>
      </p:pic>
    </p:spTree>
    <p:extLst>
      <p:ext uri="{BB962C8B-B14F-4D97-AF65-F5344CB8AC3E}">
        <p14:creationId xmlns:p14="http://schemas.microsoft.com/office/powerpoint/2010/main" val="4789720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2105"/>
            <a:ext cx="8229600" cy="822960"/>
          </a:xfrm>
        </p:spPr>
        <p:txBody>
          <a:bodyPr/>
          <a:lstStyle/>
          <a:p>
            <a:r>
              <a:rPr lang="en-US" b="1" i="0" dirty="0">
                <a:effectLst/>
                <a:latin typeface="Söhne"/>
              </a:rPr>
              <a:t>DNS Server Reachability</a:t>
            </a:r>
            <a:endParaRPr lang="en-US" dirty="0">
              <a:solidFill>
                <a:schemeClr val="bg1">
                  <a:lumMod val="95000"/>
                </a:schemeClr>
              </a:solidFill>
            </a:endParaRPr>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69947" y="5867400"/>
            <a:ext cx="2193219" cy="806762"/>
          </a:xfrm>
          <a:prstGeom prst="rect">
            <a:avLst/>
          </a:prstGeom>
        </p:spPr>
      </p:pic>
      <p:sp>
        <p:nvSpPr>
          <p:cNvPr id="7" name="TextBox 6">
            <a:extLst>
              <a:ext uri="{FF2B5EF4-FFF2-40B4-BE49-F238E27FC236}">
                <a16:creationId xmlns:a16="http://schemas.microsoft.com/office/drawing/2014/main" id="{942CB125-9743-FF96-A68D-20921063BA18}"/>
              </a:ext>
            </a:extLst>
          </p:cNvPr>
          <p:cNvSpPr txBox="1"/>
          <p:nvPr/>
        </p:nvSpPr>
        <p:spPr>
          <a:xfrm>
            <a:off x="609600" y="914400"/>
            <a:ext cx="7772400" cy="523220"/>
          </a:xfrm>
          <a:prstGeom prst="rect">
            <a:avLst/>
          </a:prstGeom>
          <a:noFill/>
        </p:spPr>
        <p:txBody>
          <a:bodyPr wrap="square">
            <a:spAutoFit/>
          </a:bodyPr>
          <a:lstStyle/>
          <a:p>
            <a:r>
              <a:rPr lang="en-US" sz="2800" dirty="0"/>
              <a:t>Ping the DNS server to ensure it is reachable</a:t>
            </a:r>
          </a:p>
        </p:txBody>
      </p:sp>
      <p:pic>
        <p:nvPicPr>
          <p:cNvPr id="9" name="Picture 8">
            <a:extLst>
              <a:ext uri="{FF2B5EF4-FFF2-40B4-BE49-F238E27FC236}">
                <a16:creationId xmlns:a16="http://schemas.microsoft.com/office/drawing/2014/main" id="{8D7BA7D6-AE20-1BD8-3B49-D5A8864C3E1B}"/>
              </a:ext>
            </a:extLst>
          </p:cNvPr>
          <p:cNvPicPr>
            <a:picLocks noChangeAspect="1"/>
          </p:cNvPicPr>
          <p:nvPr/>
        </p:nvPicPr>
        <p:blipFill>
          <a:blip r:embed="rId4"/>
          <a:stretch>
            <a:fillRect/>
          </a:stretch>
        </p:blipFill>
        <p:spPr>
          <a:xfrm>
            <a:off x="1676400" y="1793194"/>
            <a:ext cx="4476134" cy="1859316"/>
          </a:xfrm>
          <a:prstGeom prst="rect">
            <a:avLst/>
          </a:prstGeom>
        </p:spPr>
      </p:pic>
    </p:spTree>
    <p:extLst>
      <p:ext uri="{BB962C8B-B14F-4D97-AF65-F5344CB8AC3E}">
        <p14:creationId xmlns:p14="http://schemas.microsoft.com/office/powerpoint/2010/main" val="36678203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9BD85-8F2A-97EA-BF4E-C6847F054141}"/>
              </a:ext>
            </a:extLst>
          </p:cNvPr>
          <p:cNvSpPr>
            <a:spLocks noGrp="1"/>
          </p:cNvSpPr>
          <p:nvPr>
            <p:ph type="title"/>
          </p:nvPr>
        </p:nvSpPr>
        <p:spPr>
          <a:xfrm>
            <a:off x="152400" y="0"/>
            <a:ext cx="8229600" cy="822960"/>
          </a:xfrm>
        </p:spPr>
        <p:txBody>
          <a:bodyPr/>
          <a:lstStyle/>
          <a:p>
            <a:pPr algn="l"/>
            <a:r>
              <a:rPr lang="en-US" b="1" i="0" dirty="0" err="1">
                <a:effectLst/>
                <a:latin typeface="Söhne"/>
              </a:rPr>
              <a:t>Nslookup</a:t>
            </a:r>
            <a:endParaRPr lang="en-US" b="1" i="0" dirty="0">
              <a:effectLst/>
              <a:latin typeface="Söhne"/>
            </a:endParaRPr>
          </a:p>
        </p:txBody>
      </p:sp>
      <p:sp>
        <p:nvSpPr>
          <p:cNvPr id="3" name="Slide Number Placeholder 2">
            <a:extLst>
              <a:ext uri="{FF2B5EF4-FFF2-40B4-BE49-F238E27FC236}">
                <a16:creationId xmlns:a16="http://schemas.microsoft.com/office/drawing/2014/main" id="{7C47783E-3A1F-E654-C9E8-AC8B807F71DF}"/>
              </a:ext>
            </a:extLst>
          </p:cNvPr>
          <p:cNvSpPr>
            <a:spLocks noGrp="1"/>
          </p:cNvSpPr>
          <p:nvPr>
            <p:ph type="sldNum" sz="quarter" idx="12"/>
          </p:nvPr>
        </p:nvSpPr>
        <p:spPr/>
        <p:txBody>
          <a:bodyPr/>
          <a:lstStyle/>
          <a:p>
            <a:fld id="{D814DA60-3BEE-4BCE-BEDB-E433FD970963}" type="slidenum">
              <a:rPr lang="en-US" smtClean="0"/>
              <a:pPr/>
              <a:t>14</a:t>
            </a:fld>
            <a:endParaRPr lang="en-US" dirty="0"/>
          </a:p>
        </p:txBody>
      </p:sp>
      <p:sp>
        <p:nvSpPr>
          <p:cNvPr id="12" name="TextBox 11">
            <a:extLst>
              <a:ext uri="{FF2B5EF4-FFF2-40B4-BE49-F238E27FC236}">
                <a16:creationId xmlns:a16="http://schemas.microsoft.com/office/drawing/2014/main" id="{17144CD6-8448-69B8-883E-86E6F4AD5F1D}"/>
              </a:ext>
            </a:extLst>
          </p:cNvPr>
          <p:cNvSpPr txBox="1"/>
          <p:nvPr/>
        </p:nvSpPr>
        <p:spPr>
          <a:xfrm>
            <a:off x="152400" y="855617"/>
            <a:ext cx="8991600" cy="2308324"/>
          </a:xfrm>
          <a:prstGeom prst="rect">
            <a:avLst/>
          </a:prstGeom>
          <a:noFill/>
        </p:spPr>
        <p:txBody>
          <a:bodyPr wrap="square">
            <a:spAutoFit/>
          </a:bodyPr>
          <a:lstStyle/>
          <a:p>
            <a:r>
              <a:rPr lang="en-US" sz="2400" b="1" dirty="0" err="1"/>
              <a:t>nslookup</a:t>
            </a:r>
            <a:r>
              <a:rPr lang="en-US" sz="2400" dirty="0"/>
              <a:t> is a command-line tool available in Windows and many other operating systems. It is used for querying Domain Name System (</a:t>
            </a:r>
            <a:r>
              <a:rPr lang="en-US" sz="2400" b="1" dirty="0"/>
              <a:t>DNS</a:t>
            </a:r>
            <a:r>
              <a:rPr lang="en-US" sz="2400" dirty="0"/>
              <a:t>) servers to obtain domain name or IP address mapping, DNS records, and other DNS-related information. Here are some common uses of the </a:t>
            </a:r>
            <a:r>
              <a:rPr lang="en-US" sz="2400" dirty="0" err="1"/>
              <a:t>nslookup</a:t>
            </a:r>
            <a:r>
              <a:rPr lang="en-US" sz="2400" dirty="0"/>
              <a:t> command: </a:t>
            </a:r>
          </a:p>
        </p:txBody>
      </p:sp>
      <p:sp>
        <p:nvSpPr>
          <p:cNvPr id="14" name="TextBox 13">
            <a:extLst>
              <a:ext uri="{FF2B5EF4-FFF2-40B4-BE49-F238E27FC236}">
                <a16:creationId xmlns:a16="http://schemas.microsoft.com/office/drawing/2014/main" id="{634AD4C6-FDF1-7DB4-D2DF-BB6D05696800}"/>
              </a:ext>
            </a:extLst>
          </p:cNvPr>
          <p:cNvSpPr txBox="1"/>
          <p:nvPr/>
        </p:nvSpPr>
        <p:spPr>
          <a:xfrm>
            <a:off x="381000" y="3324728"/>
            <a:ext cx="2627951" cy="369332"/>
          </a:xfrm>
          <a:prstGeom prst="rect">
            <a:avLst/>
          </a:prstGeom>
          <a:noFill/>
        </p:spPr>
        <p:txBody>
          <a:bodyPr wrap="square">
            <a:spAutoFit/>
          </a:bodyPr>
          <a:lstStyle/>
          <a:p>
            <a:r>
              <a:rPr lang="en-US" b="1" dirty="0"/>
              <a:t>Basic DNS Query:</a:t>
            </a:r>
          </a:p>
        </p:txBody>
      </p:sp>
      <p:pic>
        <p:nvPicPr>
          <p:cNvPr id="16" name="Picture 15">
            <a:extLst>
              <a:ext uri="{FF2B5EF4-FFF2-40B4-BE49-F238E27FC236}">
                <a16:creationId xmlns:a16="http://schemas.microsoft.com/office/drawing/2014/main" id="{51A63D2E-61FD-5163-B480-4982869FCB61}"/>
              </a:ext>
            </a:extLst>
          </p:cNvPr>
          <p:cNvPicPr>
            <a:picLocks noChangeAspect="1"/>
          </p:cNvPicPr>
          <p:nvPr/>
        </p:nvPicPr>
        <p:blipFill>
          <a:blip r:embed="rId2"/>
          <a:stretch>
            <a:fillRect/>
          </a:stretch>
        </p:blipFill>
        <p:spPr>
          <a:xfrm>
            <a:off x="381000" y="3694060"/>
            <a:ext cx="2627951" cy="623375"/>
          </a:xfrm>
          <a:prstGeom prst="rect">
            <a:avLst/>
          </a:prstGeom>
        </p:spPr>
      </p:pic>
      <p:sp>
        <p:nvSpPr>
          <p:cNvPr id="18" name="TextBox 17">
            <a:extLst>
              <a:ext uri="{FF2B5EF4-FFF2-40B4-BE49-F238E27FC236}">
                <a16:creationId xmlns:a16="http://schemas.microsoft.com/office/drawing/2014/main" id="{3EFB028D-64F9-1425-6E3F-A27E1E14FB12}"/>
              </a:ext>
            </a:extLst>
          </p:cNvPr>
          <p:cNvSpPr txBox="1"/>
          <p:nvPr/>
        </p:nvSpPr>
        <p:spPr>
          <a:xfrm>
            <a:off x="5023426" y="3324728"/>
            <a:ext cx="4577442" cy="369332"/>
          </a:xfrm>
          <a:prstGeom prst="rect">
            <a:avLst/>
          </a:prstGeom>
          <a:noFill/>
        </p:spPr>
        <p:txBody>
          <a:bodyPr wrap="square">
            <a:spAutoFit/>
          </a:bodyPr>
          <a:lstStyle/>
          <a:p>
            <a:r>
              <a:rPr lang="en-US" b="1" dirty="0"/>
              <a:t>Reverse DNS Lookup</a:t>
            </a:r>
          </a:p>
        </p:txBody>
      </p:sp>
      <p:pic>
        <p:nvPicPr>
          <p:cNvPr id="20" name="Picture 19">
            <a:extLst>
              <a:ext uri="{FF2B5EF4-FFF2-40B4-BE49-F238E27FC236}">
                <a16:creationId xmlns:a16="http://schemas.microsoft.com/office/drawing/2014/main" id="{01420CE0-B32F-47E9-FFC2-E9EEC4C1EE42}"/>
              </a:ext>
            </a:extLst>
          </p:cNvPr>
          <p:cNvPicPr>
            <a:picLocks noChangeAspect="1"/>
          </p:cNvPicPr>
          <p:nvPr/>
        </p:nvPicPr>
        <p:blipFill>
          <a:blip r:embed="rId3"/>
          <a:stretch>
            <a:fillRect/>
          </a:stretch>
        </p:blipFill>
        <p:spPr>
          <a:xfrm>
            <a:off x="5023426" y="3746760"/>
            <a:ext cx="2596574" cy="570675"/>
          </a:xfrm>
          <a:prstGeom prst="rect">
            <a:avLst/>
          </a:prstGeom>
        </p:spPr>
      </p:pic>
      <p:sp>
        <p:nvSpPr>
          <p:cNvPr id="22" name="TextBox 21">
            <a:extLst>
              <a:ext uri="{FF2B5EF4-FFF2-40B4-BE49-F238E27FC236}">
                <a16:creationId xmlns:a16="http://schemas.microsoft.com/office/drawing/2014/main" id="{2FFDF788-926E-219A-89D9-69DF3DE5A4A0}"/>
              </a:ext>
            </a:extLst>
          </p:cNvPr>
          <p:cNvSpPr txBox="1"/>
          <p:nvPr/>
        </p:nvSpPr>
        <p:spPr>
          <a:xfrm>
            <a:off x="2133600" y="4502101"/>
            <a:ext cx="4577442" cy="369332"/>
          </a:xfrm>
          <a:prstGeom prst="rect">
            <a:avLst/>
          </a:prstGeom>
          <a:noFill/>
        </p:spPr>
        <p:txBody>
          <a:bodyPr wrap="square">
            <a:spAutoFit/>
          </a:bodyPr>
          <a:lstStyle/>
          <a:p>
            <a:r>
              <a:rPr lang="en-US" b="1" dirty="0"/>
              <a:t>Query a Different Record Type:</a:t>
            </a:r>
          </a:p>
        </p:txBody>
      </p:sp>
      <p:pic>
        <p:nvPicPr>
          <p:cNvPr id="24" name="Picture 23">
            <a:extLst>
              <a:ext uri="{FF2B5EF4-FFF2-40B4-BE49-F238E27FC236}">
                <a16:creationId xmlns:a16="http://schemas.microsoft.com/office/drawing/2014/main" id="{B2C2B8B7-90AB-7571-157C-B67577052EE9}"/>
              </a:ext>
            </a:extLst>
          </p:cNvPr>
          <p:cNvPicPr>
            <a:picLocks noChangeAspect="1"/>
          </p:cNvPicPr>
          <p:nvPr/>
        </p:nvPicPr>
        <p:blipFill>
          <a:blip r:embed="rId4"/>
          <a:stretch>
            <a:fillRect/>
          </a:stretch>
        </p:blipFill>
        <p:spPr>
          <a:xfrm>
            <a:off x="2122714" y="4894192"/>
            <a:ext cx="4111703" cy="462567"/>
          </a:xfrm>
          <a:prstGeom prst="rect">
            <a:avLst/>
          </a:prstGeom>
        </p:spPr>
      </p:pic>
    </p:spTree>
    <p:extLst>
      <p:ext uri="{BB962C8B-B14F-4D97-AF65-F5344CB8AC3E}">
        <p14:creationId xmlns:p14="http://schemas.microsoft.com/office/powerpoint/2010/main" val="37204348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i="0" dirty="0">
                <a:effectLst/>
                <a:latin typeface="Söhne"/>
              </a:rPr>
              <a:t>Troubleshoot Remote Access</a:t>
            </a:r>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69947" y="5867400"/>
            <a:ext cx="2193219" cy="806762"/>
          </a:xfrm>
          <a:prstGeom prst="rect">
            <a:avLst/>
          </a:prstGeom>
        </p:spPr>
      </p:pic>
      <p:sp>
        <p:nvSpPr>
          <p:cNvPr id="5" name="TextBox 4">
            <a:extLst>
              <a:ext uri="{FF2B5EF4-FFF2-40B4-BE49-F238E27FC236}">
                <a16:creationId xmlns:a16="http://schemas.microsoft.com/office/drawing/2014/main" id="{84049121-050D-1239-3525-E3C43107DF11}"/>
              </a:ext>
            </a:extLst>
          </p:cNvPr>
          <p:cNvSpPr txBox="1"/>
          <p:nvPr/>
        </p:nvSpPr>
        <p:spPr>
          <a:xfrm>
            <a:off x="152400" y="847997"/>
            <a:ext cx="8839200" cy="830997"/>
          </a:xfrm>
          <a:prstGeom prst="rect">
            <a:avLst/>
          </a:prstGeom>
          <a:noFill/>
        </p:spPr>
        <p:txBody>
          <a:bodyPr wrap="square">
            <a:spAutoFit/>
          </a:bodyPr>
          <a:lstStyle/>
          <a:p>
            <a:pPr algn="l"/>
            <a:r>
              <a:rPr lang="en-US" sz="2400" b="0" i="0" dirty="0">
                <a:solidFill>
                  <a:srgbClr val="374151"/>
                </a:solidFill>
                <a:effectLst/>
                <a:latin typeface="Söhne"/>
              </a:rPr>
              <a:t>Troubleshooting remote access issues can involve a variety of steps, depending on the specific method of remote access being used.</a:t>
            </a:r>
            <a:endParaRPr lang="en-US" sz="2400" b="1" i="0" dirty="0">
              <a:solidFill>
                <a:srgbClr val="323232"/>
              </a:solidFill>
              <a:effectLst/>
              <a:latin typeface="Arial" panose="020B0604020202020204" pitchFamily="34" charset="0"/>
            </a:endParaRPr>
          </a:p>
        </p:txBody>
      </p:sp>
      <p:pic>
        <p:nvPicPr>
          <p:cNvPr id="13314" name="Picture 2" descr="SOLVED] Remote Desktop Connection issue - Windows Forum">
            <a:extLst>
              <a:ext uri="{FF2B5EF4-FFF2-40B4-BE49-F238E27FC236}">
                <a16:creationId xmlns:a16="http://schemas.microsoft.com/office/drawing/2014/main" id="{9FC9BBE1-181B-B5C8-CB98-7C32E96033B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8800" y="1958684"/>
            <a:ext cx="5029200" cy="3629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33713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9BD85-8F2A-97EA-BF4E-C6847F054141}"/>
              </a:ext>
            </a:extLst>
          </p:cNvPr>
          <p:cNvSpPr>
            <a:spLocks noGrp="1"/>
          </p:cNvSpPr>
          <p:nvPr>
            <p:ph type="title"/>
          </p:nvPr>
        </p:nvSpPr>
        <p:spPr>
          <a:xfrm>
            <a:off x="152400" y="0"/>
            <a:ext cx="8229600" cy="822960"/>
          </a:xfrm>
        </p:spPr>
        <p:txBody>
          <a:bodyPr/>
          <a:lstStyle/>
          <a:p>
            <a:pPr algn="l"/>
            <a:r>
              <a:rPr lang="en-US" b="1" i="0" dirty="0">
                <a:effectLst/>
                <a:latin typeface="Söhne"/>
              </a:rPr>
              <a:t>Firewall Settings</a:t>
            </a:r>
          </a:p>
        </p:txBody>
      </p:sp>
      <p:sp>
        <p:nvSpPr>
          <p:cNvPr id="12" name="TextBox 11">
            <a:extLst>
              <a:ext uri="{FF2B5EF4-FFF2-40B4-BE49-F238E27FC236}">
                <a16:creationId xmlns:a16="http://schemas.microsoft.com/office/drawing/2014/main" id="{17144CD6-8448-69B8-883E-86E6F4AD5F1D}"/>
              </a:ext>
            </a:extLst>
          </p:cNvPr>
          <p:cNvSpPr txBox="1"/>
          <p:nvPr/>
        </p:nvSpPr>
        <p:spPr>
          <a:xfrm>
            <a:off x="152400" y="855617"/>
            <a:ext cx="8991600" cy="830997"/>
          </a:xfrm>
          <a:prstGeom prst="rect">
            <a:avLst/>
          </a:prstGeom>
          <a:noFill/>
        </p:spPr>
        <p:txBody>
          <a:bodyPr wrap="square">
            <a:spAutoFit/>
          </a:bodyPr>
          <a:lstStyle/>
          <a:p>
            <a:r>
              <a:rPr lang="en-US" sz="2400" b="0" i="0" dirty="0">
                <a:solidFill>
                  <a:srgbClr val="374151"/>
                </a:solidFill>
                <a:effectLst/>
                <a:latin typeface="Söhne"/>
              </a:rPr>
              <a:t>Ensure that the firewall allows remote access. Check the settings for any rules blocking remote connections.</a:t>
            </a:r>
            <a:endParaRPr lang="en-US" sz="2400" dirty="0"/>
          </a:p>
        </p:txBody>
      </p:sp>
      <p:pic>
        <p:nvPicPr>
          <p:cNvPr id="19460" name="Picture 4" descr="RDP is diconnected after enabling Firewall Public Profile - Microsoft Q&amp;A">
            <a:extLst>
              <a:ext uri="{FF2B5EF4-FFF2-40B4-BE49-F238E27FC236}">
                <a16:creationId xmlns:a16="http://schemas.microsoft.com/office/drawing/2014/main" id="{10E4B0A4-F6CF-135D-581C-E7B0A470120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2057400"/>
            <a:ext cx="9144000" cy="3549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53635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9BD85-8F2A-97EA-BF4E-C6847F054141}"/>
              </a:ext>
            </a:extLst>
          </p:cNvPr>
          <p:cNvSpPr>
            <a:spLocks noGrp="1"/>
          </p:cNvSpPr>
          <p:nvPr>
            <p:ph type="title"/>
          </p:nvPr>
        </p:nvSpPr>
        <p:spPr>
          <a:xfrm>
            <a:off x="152400" y="0"/>
            <a:ext cx="8229600" cy="822960"/>
          </a:xfrm>
        </p:spPr>
        <p:txBody>
          <a:bodyPr/>
          <a:lstStyle/>
          <a:p>
            <a:pPr algn="l"/>
            <a:r>
              <a:rPr lang="en-US" b="1" i="0" dirty="0">
                <a:effectLst/>
                <a:latin typeface="Söhne"/>
              </a:rPr>
              <a:t>Remote Desktop Protocol (RDP)</a:t>
            </a:r>
          </a:p>
        </p:txBody>
      </p:sp>
      <p:sp>
        <p:nvSpPr>
          <p:cNvPr id="5" name="TextBox 4">
            <a:extLst>
              <a:ext uri="{FF2B5EF4-FFF2-40B4-BE49-F238E27FC236}">
                <a16:creationId xmlns:a16="http://schemas.microsoft.com/office/drawing/2014/main" id="{A55A3756-3D61-51DA-E24A-49231120A7B6}"/>
              </a:ext>
            </a:extLst>
          </p:cNvPr>
          <p:cNvSpPr txBox="1"/>
          <p:nvPr/>
        </p:nvSpPr>
        <p:spPr>
          <a:xfrm>
            <a:off x="228600" y="917861"/>
            <a:ext cx="8915400" cy="461665"/>
          </a:xfrm>
          <a:prstGeom prst="rect">
            <a:avLst/>
          </a:prstGeom>
          <a:noFill/>
        </p:spPr>
        <p:txBody>
          <a:bodyPr wrap="square">
            <a:spAutoFit/>
          </a:bodyPr>
          <a:lstStyle/>
          <a:p>
            <a:r>
              <a:rPr lang="en-US" sz="2400" b="0" i="0" dirty="0">
                <a:solidFill>
                  <a:srgbClr val="374151"/>
                </a:solidFill>
                <a:effectLst/>
                <a:latin typeface="Söhne"/>
              </a:rPr>
              <a:t>If using RDP, make sure it's enabled on the remote machine</a:t>
            </a:r>
            <a:endParaRPr lang="en-US" sz="2400" dirty="0"/>
          </a:p>
        </p:txBody>
      </p:sp>
      <p:pic>
        <p:nvPicPr>
          <p:cNvPr id="18434" name="Picture 2" descr="How to Check If Remote Access Is Enabled">
            <a:extLst>
              <a:ext uri="{FF2B5EF4-FFF2-40B4-BE49-F238E27FC236}">
                <a16:creationId xmlns:a16="http://schemas.microsoft.com/office/drawing/2014/main" id="{330EC9FD-846E-ADB1-C9DF-565DE49227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5562" y="1843760"/>
            <a:ext cx="3952875" cy="4505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39842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9BD85-8F2A-97EA-BF4E-C6847F054141}"/>
              </a:ext>
            </a:extLst>
          </p:cNvPr>
          <p:cNvSpPr>
            <a:spLocks noGrp="1"/>
          </p:cNvSpPr>
          <p:nvPr>
            <p:ph type="title"/>
          </p:nvPr>
        </p:nvSpPr>
        <p:spPr>
          <a:xfrm>
            <a:off x="152400" y="0"/>
            <a:ext cx="8229600" cy="822960"/>
          </a:xfrm>
        </p:spPr>
        <p:txBody>
          <a:bodyPr/>
          <a:lstStyle/>
          <a:p>
            <a:pPr algn="l"/>
            <a:r>
              <a:rPr lang="en-US" b="1" i="0" dirty="0">
                <a:effectLst/>
                <a:latin typeface="Söhne"/>
              </a:rPr>
              <a:t>User Permissions</a:t>
            </a:r>
            <a:endParaRPr lang="en-US" b="0" i="0" dirty="0">
              <a:effectLst/>
              <a:latin typeface="Söhne"/>
            </a:endParaRPr>
          </a:p>
        </p:txBody>
      </p:sp>
      <p:sp>
        <p:nvSpPr>
          <p:cNvPr id="5" name="TextBox 4">
            <a:extLst>
              <a:ext uri="{FF2B5EF4-FFF2-40B4-BE49-F238E27FC236}">
                <a16:creationId xmlns:a16="http://schemas.microsoft.com/office/drawing/2014/main" id="{7B70A596-B26A-BE2A-D035-AE6DF67CDA03}"/>
              </a:ext>
            </a:extLst>
          </p:cNvPr>
          <p:cNvSpPr txBox="1"/>
          <p:nvPr/>
        </p:nvSpPr>
        <p:spPr>
          <a:xfrm>
            <a:off x="381000" y="990600"/>
            <a:ext cx="8610600" cy="830997"/>
          </a:xfrm>
          <a:prstGeom prst="rect">
            <a:avLst/>
          </a:prstGeom>
          <a:noFill/>
        </p:spPr>
        <p:txBody>
          <a:bodyPr wrap="square">
            <a:spAutoFit/>
          </a:bodyPr>
          <a:lstStyle/>
          <a:p>
            <a:pPr algn="l"/>
            <a:r>
              <a:rPr lang="en-US" sz="2400" b="1" i="0" dirty="0">
                <a:solidFill>
                  <a:srgbClr val="374151"/>
                </a:solidFill>
                <a:effectLst/>
                <a:latin typeface="Söhne"/>
              </a:rPr>
              <a:t>Check that the user account has the necessary permissions for remote access.</a:t>
            </a:r>
          </a:p>
        </p:txBody>
      </p:sp>
      <p:pic>
        <p:nvPicPr>
          <p:cNvPr id="7" name="Picture 6">
            <a:extLst>
              <a:ext uri="{FF2B5EF4-FFF2-40B4-BE49-F238E27FC236}">
                <a16:creationId xmlns:a16="http://schemas.microsoft.com/office/drawing/2014/main" id="{7B78DBAD-5F4A-68A8-8840-798A7AEB50EB}"/>
              </a:ext>
            </a:extLst>
          </p:cNvPr>
          <p:cNvPicPr>
            <a:picLocks noChangeAspect="1"/>
          </p:cNvPicPr>
          <p:nvPr/>
        </p:nvPicPr>
        <p:blipFill>
          <a:blip r:embed="rId2"/>
          <a:stretch>
            <a:fillRect/>
          </a:stretch>
        </p:blipFill>
        <p:spPr>
          <a:xfrm>
            <a:off x="114300" y="1989237"/>
            <a:ext cx="9029700" cy="4283675"/>
          </a:xfrm>
          <a:prstGeom prst="rect">
            <a:avLst/>
          </a:prstGeom>
        </p:spPr>
      </p:pic>
    </p:spTree>
    <p:extLst>
      <p:ext uri="{BB962C8B-B14F-4D97-AF65-F5344CB8AC3E}">
        <p14:creationId xmlns:p14="http://schemas.microsoft.com/office/powerpoint/2010/main" val="9052413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9BD85-8F2A-97EA-BF4E-C6847F054141}"/>
              </a:ext>
            </a:extLst>
          </p:cNvPr>
          <p:cNvSpPr>
            <a:spLocks noGrp="1"/>
          </p:cNvSpPr>
          <p:nvPr>
            <p:ph type="title"/>
          </p:nvPr>
        </p:nvSpPr>
        <p:spPr>
          <a:xfrm>
            <a:off x="152400" y="0"/>
            <a:ext cx="8229600" cy="822960"/>
          </a:xfrm>
        </p:spPr>
        <p:txBody>
          <a:bodyPr/>
          <a:lstStyle/>
          <a:p>
            <a:pPr algn="l"/>
            <a:r>
              <a:rPr lang="en-US" b="1" i="0" dirty="0">
                <a:effectLst/>
                <a:latin typeface="Söhne"/>
              </a:rPr>
              <a:t>VPN Connection</a:t>
            </a:r>
          </a:p>
        </p:txBody>
      </p:sp>
      <p:sp>
        <p:nvSpPr>
          <p:cNvPr id="5" name="TextBox 4">
            <a:extLst>
              <a:ext uri="{FF2B5EF4-FFF2-40B4-BE49-F238E27FC236}">
                <a16:creationId xmlns:a16="http://schemas.microsoft.com/office/drawing/2014/main" id="{B727EF80-C6DE-9DA1-92E1-8F9B9C39245D}"/>
              </a:ext>
            </a:extLst>
          </p:cNvPr>
          <p:cNvSpPr txBox="1"/>
          <p:nvPr/>
        </p:nvSpPr>
        <p:spPr>
          <a:xfrm>
            <a:off x="304800" y="822960"/>
            <a:ext cx="8839200" cy="1384995"/>
          </a:xfrm>
          <a:prstGeom prst="rect">
            <a:avLst/>
          </a:prstGeom>
          <a:noFill/>
        </p:spPr>
        <p:txBody>
          <a:bodyPr wrap="square">
            <a:spAutoFit/>
          </a:bodyPr>
          <a:lstStyle/>
          <a:p>
            <a:pPr algn="l">
              <a:buFont typeface="Arial" panose="020B0604020202020204" pitchFamily="34" charset="0"/>
              <a:buChar char="•"/>
            </a:pPr>
            <a:r>
              <a:rPr lang="en-US" sz="2800" b="0" i="0" dirty="0">
                <a:solidFill>
                  <a:srgbClr val="374151"/>
                </a:solidFill>
                <a:effectLst/>
                <a:latin typeface="Söhne"/>
              </a:rPr>
              <a:t>If remote access involves a Virtual Private Network (VPN), ensure that the VPN connection is established successfully.</a:t>
            </a:r>
          </a:p>
          <a:p>
            <a:pPr algn="l">
              <a:buFont typeface="Arial" panose="020B0604020202020204" pitchFamily="34" charset="0"/>
              <a:buChar char="•"/>
            </a:pPr>
            <a:r>
              <a:rPr lang="en-US" sz="2800" b="0" i="0" dirty="0">
                <a:solidFill>
                  <a:srgbClr val="374151"/>
                </a:solidFill>
                <a:effectLst/>
                <a:latin typeface="Söhne"/>
              </a:rPr>
              <a:t>Verify the VPN settings and credentials.</a:t>
            </a:r>
          </a:p>
        </p:txBody>
      </p:sp>
      <p:pic>
        <p:nvPicPr>
          <p:cNvPr id="6" name="Picture 5">
            <a:extLst>
              <a:ext uri="{FF2B5EF4-FFF2-40B4-BE49-F238E27FC236}">
                <a16:creationId xmlns:a16="http://schemas.microsoft.com/office/drawing/2014/main" id="{07068552-D8D9-E19D-EE4E-434D70F748D8}"/>
              </a:ext>
            </a:extLst>
          </p:cNvPr>
          <p:cNvPicPr>
            <a:picLocks noChangeAspect="1"/>
          </p:cNvPicPr>
          <p:nvPr/>
        </p:nvPicPr>
        <p:blipFill>
          <a:blip r:embed="rId2"/>
          <a:stretch>
            <a:fillRect/>
          </a:stretch>
        </p:blipFill>
        <p:spPr>
          <a:xfrm>
            <a:off x="2438399" y="2207954"/>
            <a:ext cx="5739641" cy="4650045"/>
          </a:xfrm>
          <a:prstGeom prst="rect">
            <a:avLst/>
          </a:prstGeom>
        </p:spPr>
      </p:pic>
    </p:spTree>
    <p:extLst>
      <p:ext uri="{BB962C8B-B14F-4D97-AF65-F5344CB8AC3E}">
        <p14:creationId xmlns:p14="http://schemas.microsoft.com/office/powerpoint/2010/main" val="23220811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9BD85-8F2A-97EA-BF4E-C6847F054141}"/>
              </a:ext>
            </a:extLst>
          </p:cNvPr>
          <p:cNvSpPr>
            <a:spLocks noGrp="1"/>
          </p:cNvSpPr>
          <p:nvPr>
            <p:ph type="title"/>
          </p:nvPr>
        </p:nvSpPr>
        <p:spPr>
          <a:xfrm>
            <a:off x="152400" y="0"/>
            <a:ext cx="8229600" cy="822960"/>
          </a:xfrm>
        </p:spPr>
        <p:txBody>
          <a:bodyPr/>
          <a:lstStyle/>
          <a:p>
            <a:pPr algn="l"/>
            <a:r>
              <a:rPr lang="en-US" b="1" i="0" dirty="0">
                <a:effectLst/>
                <a:latin typeface="Söhne"/>
              </a:rPr>
              <a:t>Security Software</a:t>
            </a:r>
          </a:p>
        </p:txBody>
      </p:sp>
      <p:sp>
        <p:nvSpPr>
          <p:cNvPr id="5" name="TextBox 4">
            <a:extLst>
              <a:ext uri="{FF2B5EF4-FFF2-40B4-BE49-F238E27FC236}">
                <a16:creationId xmlns:a16="http://schemas.microsoft.com/office/drawing/2014/main" id="{59C1E433-84BC-E69E-E7C6-952CE8CEB98F}"/>
              </a:ext>
            </a:extLst>
          </p:cNvPr>
          <p:cNvSpPr txBox="1"/>
          <p:nvPr/>
        </p:nvSpPr>
        <p:spPr>
          <a:xfrm>
            <a:off x="304800" y="822960"/>
            <a:ext cx="8229600" cy="1384995"/>
          </a:xfrm>
          <a:prstGeom prst="rect">
            <a:avLst/>
          </a:prstGeom>
          <a:noFill/>
        </p:spPr>
        <p:txBody>
          <a:bodyPr wrap="square">
            <a:spAutoFit/>
          </a:bodyPr>
          <a:lstStyle/>
          <a:p>
            <a:pPr algn="l"/>
            <a:r>
              <a:rPr lang="en-US" sz="2800" i="0" dirty="0">
                <a:solidFill>
                  <a:srgbClr val="374151"/>
                </a:solidFill>
                <a:effectLst/>
                <a:latin typeface="Söhne"/>
              </a:rPr>
              <a:t>Check if security software (antivirus, anti-malware) on either the local or remote machine is blocking the remote access.</a:t>
            </a:r>
          </a:p>
        </p:txBody>
      </p:sp>
      <p:pic>
        <p:nvPicPr>
          <p:cNvPr id="6" name="Picture 5">
            <a:extLst>
              <a:ext uri="{FF2B5EF4-FFF2-40B4-BE49-F238E27FC236}">
                <a16:creationId xmlns:a16="http://schemas.microsoft.com/office/drawing/2014/main" id="{7A61884E-8B75-B4CE-7587-547EBD200485}"/>
              </a:ext>
            </a:extLst>
          </p:cNvPr>
          <p:cNvPicPr>
            <a:picLocks noChangeAspect="1"/>
          </p:cNvPicPr>
          <p:nvPr/>
        </p:nvPicPr>
        <p:blipFill>
          <a:blip r:embed="rId2"/>
          <a:stretch>
            <a:fillRect/>
          </a:stretch>
        </p:blipFill>
        <p:spPr>
          <a:xfrm>
            <a:off x="2819400" y="1828800"/>
            <a:ext cx="6204857" cy="4699208"/>
          </a:xfrm>
          <a:prstGeom prst="rect">
            <a:avLst/>
          </a:prstGeom>
        </p:spPr>
      </p:pic>
    </p:spTree>
    <p:extLst>
      <p:ext uri="{BB962C8B-B14F-4D97-AF65-F5344CB8AC3E}">
        <p14:creationId xmlns:p14="http://schemas.microsoft.com/office/powerpoint/2010/main" val="2183003537"/>
      </p:ext>
    </p:extLst>
  </p:cSld>
  <p:clrMapOvr>
    <a:masterClrMapping/>
  </p:clrMapOvr>
</p:sld>
</file>

<file path=ppt/theme/theme1.xml><?xml version="1.0" encoding="utf-8"?>
<a:theme xmlns:a="http://schemas.openxmlformats.org/drawingml/2006/main" name="Module 0 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MOC">
      <a:majorFont>
        <a:latin typeface="Segoe U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Module 0 Template" id="{3F1C69AC-5830-49BC-9A4F-DB7055F454F6}" vid="{AAB4E25A-B57F-42FC-B69A-0672178810E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663</Words>
  <Application>Microsoft Office PowerPoint</Application>
  <PresentationFormat>On-screen Show (4:3)</PresentationFormat>
  <Paragraphs>91</Paragraphs>
  <Slides>20</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Arial</vt:lpstr>
      <vt:lpstr>Calibri</vt:lpstr>
      <vt:lpstr>Segoe UI</vt:lpstr>
      <vt:lpstr>Segoe UI Light</vt:lpstr>
      <vt:lpstr>Söhne</vt:lpstr>
      <vt:lpstr>Spectral</vt:lpstr>
      <vt:lpstr>Module 0 Template</vt:lpstr>
      <vt:lpstr>PowerPoint Presentation</vt:lpstr>
      <vt:lpstr>Lessons</vt:lpstr>
      <vt:lpstr>Troubleshoot Network Connectivity</vt:lpstr>
      <vt:lpstr>PowerPoint Presentation</vt:lpstr>
      <vt:lpstr>Verify IP Configuration</vt:lpstr>
      <vt:lpstr>Ping Test </vt:lpstr>
      <vt:lpstr>Firewall and Antivirus</vt:lpstr>
      <vt:lpstr>Device Manager </vt:lpstr>
      <vt:lpstr>Troubleshoot Name Resolution:</vt:lpstr>
      <vt:lpstr>DNS Configuration</vt:lpstr>
      <vt:lpstr>Flush DNS Cache</vt:lpstr>
      <vt:lpstr>Hosts File</vt:lpstr>
      <vt:lpstr>DNS Server Reachability</vt:lpstr>
      <vt:lpstr>Nslookup</vt:lpstr>
      <vt:lpstr>Troubleshoot Remote Access</vt:lpstr>
      <vt:lpstr>Firewall Settings</vt:lpstr>
      <vt:lpstr>Remote Desktop Protocol (RDP)</vt:lpstr>
      <vt:lpstr>User Permissions</vt:lpstr>
      <vt:lpstr>VPN Connection</vt:lpstr>
      <vt:lpstr>Security Software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2015-11-16T17:53:38Z</dcterms:created>
  <dcterms:modified xsi:type="dcterms:W3CDTF">2023-11-11T10:07:32Z</dcterms:modified>
</cp:coreProperties>
</file>